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1" r:id="rId3"/>
    <p:sldId id="257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296" r:id="rId12"/>
    <p:sldId id="304" r:id="rId13"/>
    <p:sldId id="324" r:id="rId14"/>
    <p:sldId id="325" r:id="rId15"/>
    <p:sldId id="326" r:id="rId16"/>
    <p:sldId id="327" r:id="rId17"/>
    <p:sldId id="328" r:id="rId18"/>
    <p:sldId id="305" r:id="rId19"/>
    <p:sldId id="306" r:id="rId20"/>
    <p:sldId id="276" r:id="rId21"/>
    <p:sldId id="307" r:id="rId22"/>
    <p:sldId id="273" r:id="rId23"/>
    <p:sldId id="275" r:id="rId24"/>
    <p:sldId id="308" r:id="rId25"/>
    <p:sldId id="309" r:id="rId26"/>
    <p:sldId id="259" r:id="rId27"/>
    <p:sldId id="260" r:id="rId28"/>
    <p:sldId id="261" r:id="rId29"/>
    <p:sldId id="313" r:id="rId30"/>
    <p:sldId id="314" r:id="rId31"/>
    <p:sldId id="320" r:id="rId32"/>
    <p:sldId id="321" r:id="rId33"/>
    <p:sldId id="315" r:id="rId34"/>
    <p:sldId id="323" r:id="rId35"/>
    <p:sldId id="322" r:id="rId36"/>
    <p:sldId id="330" r:id="rId37"/>
    <p:sldId id="331" r:id="rId38"/>
    <p:sldId id="332" r:id="rId39"/>
    <p:sldId id="333" r:id="rId40"/>
    <p:sldId id="334" r:id="rId41"/>
    <p:sldId id="335" r:id="rId42"/>
    <p:sldId id="336" r:id="rId43"/>
    <p:sldId id="310" r:id="rId44"/>
    <p:sldId id="258" r:id="rId45"/>
    <p:sldId id="312" r:id="rId46"/>
    <p:sldId id="262" r:id="rId47"/>
    <p:sldId id="263" r:id="rId48"/>
    <p:sldId id="264" r:id="rId49"/>
    <p:sldId id="265" r:id="rId50"/>
    <p:sldId id="266" r:id="rId51"/>
    <p:sldId id="267" r:id="rId52"/>
    <p:sldId id="268" r:id="rId53"/>
    <p:sldId id="269" r:id="rId54"/>
    <p:sldId id="270" r:id="rId55"/>
    <p:sldId id="271" r:id="rId56"/>
    <p:sldId id="272" r:id="rId57"/>
    <p:sldId id="274" r:id="rId58"/>
    <p:sldId id="277" r:id="rId59"/>
    <p:sldId id="278" r:id="rId60"/>
    <p:sldId id="279" r:id="rId61"/>
    <p:sldId id="281" r:id="rId62"/>
    <p:sldId id="282" r:id="rId63"/>
    <p:sldId id="283" r:id="rId64"/>
    <p:sldId id="284" r:id="rId65"/>
    <p:sldId id="285" r:id="rId66"/>
    <p:sldId id="286" r:id="rId67"/>
    <p:sldId id="287" r:id="rId68"/>
    <p:sldId id="288" r:id="rId69"/>
    <p:sldId id="289" r:id="rId70"/>
    <p:sldId id="290" r:id="rId71"/>
    <p:sldId id="291" r:id="rId72"/>
    <p:sldId id="292" r:id="rId73"/>
    <p:sldId id="293" r:id="rId74"/>
    <p:sldId id="294" r:id="rId75"/>
    <p:sldId id="295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71E73D-8773-73A8-1284-E25D50C55CEF}" v="38" dt="2026-06-23T18:57:48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jl8K0VJraX4?si=RuzqWWTr-dUhsgcO&amp;t=14" TargetMode="External"/><Relationship Id="rId5" Type="http://schemas.openxmlformats.org/officeDocument/2006/relationships/hyperlink" Target="https://www.youtube.com/watch?v=IEAtGCkbq5Y" TargetMode="Externa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N53XUm2O9RE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40.87.150.106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68139"/>
            <a:ext cx="9144000" cy="2387600"/>
          </a:xfrm>
        </p:spPr>
        <p:txBody>
          <a:bodyPr/>
          <a:lstStyle/>
          <a:p>
            <a:r>
              <a:rPr lang="en-US" dirty="0" err="1"/>
              <a:t>Analýza</a:t>
            </a:r>
            <a:r>
              <a:rPr lang="en-US" dirty="0"/>
              <a:t> MALWARE</a:t>
            </a:r>
          </a:p>
        </p:txBody>
      </p:sp>
      <p:pic>
        <p:nvPicPr>
          <p:cNvPr id="4" name="Obrázek 3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FF71E310-B911-93C5-C827-E23510ADC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5E6DCFE-5143-8674-E90F-601EC09ACC58}"/>
              </a:ext>
            </a:extLst>
          </p:cNvPr>
          <p:cNvSpPr txBox="1">
            <a:spLocks/>
          </p:cNvSpPr>
          <p:nvPr/>
        </p:nvSpPr>
        <p:spPr>
          <a:xfrm>
            <a:off x="1531716" y="3540957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Letní </a:t>
            </a:r>
            <a:r>
              <a:rPr lang="en-US" sz="2800" dirty="0" err="1"/>
              <a:t>škola</a:t>
            </a:r>
            <a:r>
              <a:rPr lang="en-US" sz="2800" dirty="0"/>
              <a:t> </a:t>
            </a:r>
            <a:r>
              <a:rPr lang="en-US" sz="2800" dirty="0" err="1"/>
              <a:t>kybernetické</a:t>
            </a:r>
            <a:r>
              <a:rPr lang="en-US" sz="2800" dirty="0"/>
              <a:t> </a:t>
            </a:r>
            <a:r>
              <a:rPr lang="en-US" sz="2800" dirty="0" err="1"/>
              <a:t>bezpečnosti</a:t>
            </a:r>
            <a:endParaRPr lang="en-US" sz="2800" dirty="0"/>
          </a:p>
          <a:p>
            <a:endParaRPr lang="en-US" sz="2800" dirty="0"/>
          </a:p>
          <a:p>
            <a:r>
              <a:rPr lang="en-US" sz="2800"/>
              <a:t>VUT, 24.6.2026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B81A0F-9CDA-0FCA-379F-E26CC5579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032" y="1264618"/>
            <a:ext cx="3720709" cy="1325563"/>
          </a:xfrm>
        </p:spPr>
        <p:txBody>
          <a:bodyPr>
            <a:normAutofit/>
          </a:bodyPr>
          <a:lstStyle/>
          <a:p>
            <a:r>
              <a:rPr lang="en-US" dirty="0"/>
              <a:t>$ WHOAMI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CB94DC-32B1-6BBB-8596-7EAE97105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864" y="2515660"/>
            <a:ext cx="5415247" cy="41714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Tech </a:t>
            </a:r>
            <a:r>
              <a:rPr lang="en-US" sz="2400" err="1"/>
              <a:t>entusiasta</a:t>
            </a:r>
            <a:endParaRPr lang="cs-CZ" sz="2400"/>
          </a:p>
          <a:p>
            <a:pPr lvl="1"/>
            <a:r>
              <a:rPr lang="en-US" sz="1800" dirty="0" err="1"/>
              <a:t>Etický</a:t>
            </a:r>
            <a:r>
              <a:rPr lang="en-US" sz="1800" dirty="0"/>
              <a:t> hacking, </a:t>
            </a:r>
            <a:r>
              <a:rPr lang="cs-CZ" sz="1800" dirty="0"/>
              <a:t>Malware (red &amp; blue)</a:t>
            </a:r>
            <a:endParaRPr lang="cs-CZ" sz="1800" dirty="0">
              <a:ea typeface="Calibri"/>
              <a:cs typeface="Calibri"/>
            </a:endParaRPr>
          </a:p>
          <a:p>
            <a:pPr lvl="1"/>
            <a:r>
              <a:rPr lang="cs-CZ" sz="1800" dirty="0">
                <a:ea typeface="Calibri"/>
                <a:cs typeface="Calibri"/>
              </a:rPr>
              <a:t>Linux (</a:t>
            </a:r>
            <a:r>
              <a:rPr lang="cs-CZ" sz="1800">
                <a:ea typeface="Calibri"/>
                <a:cs typeface="Calibri"/>
              </a:rPr>
              <a:t>pureOS</a:t>
            </a:r>
            <a:r>
              <a:rPr lang="cs-CZ" sz="1800" dirty="0">
                <a:ea typeface="Calibri"/>
                <a:cs typeface="Calibri"/>
              </a:rPr>
              <a:t>, </a:t>
            </a:r>
            <a:r>
              <a:rPr lang="cs-CZ" sz="1800">
                <a:ea typeface="Calibri"/>
                <a:cs typeface="Calibri"/>
              </a:rPr>
              <a:t>GrapheneOS</a:t>
            </a:r>
            <a:r>
              <a:rPr lang="cs-CZ" sz="1800" dirty="0">
                <a:ea typeface="Calibri"/>
                <a:cs typeface="Calibri"/>
              </a:rPr>
              <a:t>)</a:t>
            </a:r>
          </a:p>
          <a:p>
            <a:pPr lvl="1"/>
            <a:r>
              <a:rPr lang="cs-CZ" sz="1800">
                <a:ea typeface="Calibri"/>
                <a:cs typeface="Calibri"/>
              </a:rPr>
              <a:t>Mining</a:t>
            </a:r>
            <a:r>
              <a:rPr lang="cs-CZ" sz="1800" dirty="0">
                <a:ea typeface="Calibri"/>
                <a:cs typeface="Calibri"/>
              </a:rPr>
              <a:t>, Full-Node-</a:t>
            </a:r>
            <a:r>
              <a:rPr lang="cs-CZ" sz="1800">
                <a:ea typeface="Calibri"/>
                <a:cs typeface="Calibri"/>
              </a:rPr>
              <a:t>Validator</a:t>
            </a:r>
          </a:p>
          <a:p>
            <a:pPr lvl="1"/>
            <a:endParaRPr lang="cs-CZ" sz="2000" dirty="0">
              <a:ea typeface="Calibri"/>
              <a:cs typeface="Calibri"/>
            </a:endParaRPr>
          </a:p>
          <a:p>
            <a:r>
              <a:rPr lang="cs-CZ" sz="2400" dirty="0">
                <a:ea typeface="Calibri"/>
                <a:cs typeface="Calibri"/>
              </a:rPr>
              <a:t>Malware</a:t>
            </a:r>
          </a:p>
          <a:p>
            <a:pPr lvl="1"/>
            <a:r>
              <a:rPr lang="cs-CZ" sz="1800">
                <a:ea typeface="Calibri"/>
                <a:cs typeface="Calibri"/>
              </a:rPr>
              <a:t>Exploits</a:t>
            </a:r>
            <a:r>
              <a:rPr lang="cs-CZ" sz="1800" dirty="0">
                <a:ea typeface="Calibri"/>
                <a:cs typeface="Calibri"/>
              </a:rPr>
              <a:t> </a:t>
            </a:r>
            <a:r>
              <a:rPr lang="cs-CZ" sz="1800">
                <a:ea typeface="Calibri"/>
                <a:cs typeface="Calibri"/>
              </a:rPr>
              <a:t>Advanced</a:t>
            </a:r>
            <a:r>
              <a:rPr lang="cs-CZ" sz="1800" dirty="0">
                <a:ea typeface="Calibri"/>
                <a:cs typeface="Calibri"/>
              </a:rPr>
              <a:t> (NATO CCDCOE)</a:t>
            </a:r>
          </a:p>
          <a:p>
            <a:pPr lvl="1"/>
            <a:r>
              <a:rPr lang="cs-CZ" sz="1800" dirty="0">
                <a:ea typeface="Calibri"/>
                <a:cs typeface="Calibri"/>
              </a:rPr>
              <a:t>"Vývoj a nasazení Malware"</a:t>
            </a:r>
          </a:p>
          <a:p>
            <a:pPr lvl="1"/>
            <a:endParaRPr lang="cs-CZ" sz="1800" dirty="0">
              <a:ea typeface="Calibri"/>
              <a:cs typeface="Calibri"/>
            </a:endParaRPr>
          </a:p>
          <a:p>
            <a:r>
              <a:rPr lang="cs-CZ" sz="2400" dirty="0">
                <a:ea typeface="Calibri"/>
                <a:cs typeface="Calibri"/>
              </a:rPr>
              <a:t>NATO Developer</a:t>
            </a:r>
            <a:endParaRPr lang="cs-CZ" sz="2400"/>
          </a:p>
          <a:p>
            <a:r>
              <a:rPr lang="cs-CZ" sz="2400" dirty="0">
                <a:ea typeface="Calibri"/>
                <a:cs typeface="Calibri"/>
              </a:rPr>
              <a:t>EDA </a:t>
            </a:r>
            <a:r>
              <a:rPr lang="cs-CZ" sz="2400">
                <a:ea typeface="Calibri"/>
                <a:cs typeface="Calibri"/>
              </a:rPr>
              <a:t>CapTech</a:t>
            </a:r>
            <a:r>
              <a:rPr lang="cs-CZ" sz="2400" dirty="0">
                <a:ea typeface="Calibri"/>
                <a:cs typeface="Calibri"/>
              </a:rPr>
              <a:t> CGE (</a:t>
            </a:r>
            <a:r>
              <a:rPr lang="cs-CZ" sz="2400">
                <a:ea typeface="Calibri"/>
                <a:cs typeface="Calibri"/>
              </a:rPr>
              <a:t>Cyber</a:t>
            </a:r>
            <a:r>
              <a:rPr lang="cs-CZ" sz="2400" dirty="0">
                <a:ea typeface="Calibri"/>
                <a:cs typeface="Calibri"/>
              </a:rPr>
              <a:t> </a:t>
            </a:r>
            <a:r>
              <a:rPr lang="cs-CZ" sz="2400">
                <a:ea typeface="Calibri"/>
                <a:cs typeface="Calibri"/>
              </a:rPr>
              <a:t>Defence</a:t>
            </a:r>
            <a:r>
              <a:rPr lang="cs-CZ" sz="2400" dirty="0">
                <a:ea typeface="Calibri"/>
                <a:cs typeface="Calibri"/>
              </a:rPr>
              <a:t>)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198FFAB-88A3-079D-2802-F263F2DDD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4" r="6594"/>
          <a:stretch/>
        </p:blipFill>
        <p:spPr>
          <a:xfrm>
            <a:off x="7922515" y="1264617"/>
            <a:ext cx="2398594" cy="2938314"/>
          </a:xfrm>
          <a:custGeom>
            <a:avLst/>
            <a:gdLst/>
            <a:ahLst/>
            <a:cxnLst/>
            <a:rect l="l" t="t" r="r" b="b"/>
            <a:pathLst>
              <a:path w="4030579" h="3703141">
                <a:moveTo>
                  <a:pt x="2015289" y="0"/>
                </a:moveTo>
                <a:cubicBezTo>
                  <a:pt x="3128303" y="0"/>
                  <a:pt x="4030579" y="902277"/>
                  <a:pt x="4030579" y="2015290"/>
                </a:cubicBezTo>
                <a:cubicBezTo>
                  <a:pt x="4030579" y="2710923"/>
                  <a:pt x="3678127" y="3324237"/>
                  <a:pt x="3142057" y="3686399"/>
                </a:cubicBezTo>
                <a:lnTo>
                  <a:pt x="3114499" y="3703141"/>
                </a:lnTo>
                <a:lnTo>
                  <a:pt x="916080" y="3703141"/>
                </a:lnTo>
                <a:lnTo>
                  <a:pt x="888522" y="3686399"/>
                </a:lnTo>
                <a:cubicBezTo>
                  <a:pt x="352452" y="3324237"/>
                  <a:pt x="0" y="2710923"/>
                  <a:pt x="0" y="2015290"/>
                </a:cubicBezTo>
                <a:cubicBezTo>
                  <a:pt x="0" y="902277"/>
                  <a:pt x="902277" y="0"/>
                  <a:pt x="2015289" y="0"/>
                </a:cubicBezTo>
                <a:close/>
              </a:path>
            </a:pathLst>
          </a:custGeom>
        </p:spPr>
      </p:pic>
      <p:pic>
        <p:nvPicPr>
          <p:cNvPr id="9" name="Obrázek 8" descr="Obsah obrázku stůl, interiér, zeď, několik&#10;&#10;Popis byl vytvořen automaticky">
            <a:extLst>
              <a:ext uri="{FF2B5EF4-FFF2-40B4-BE49-F238E27FC236}">
                <a16:creationId xmlns:a16="http://schemas.microsoft.com/office/drawing/2014/main" id="{C0FCDBE4-E554-1FE9-9D9B-FE05CEDAEE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9" r="9066" b="1"/>
          <a:stretch/>
        </p:blipFill>
        <p:spPr>
          <a:xfrm>
            <a:off x="9113935" y="4414408"/>
            <a:ext cx="1835151" cy="2192993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81A9C58E-8EBF-1753-2825-BCEAD169FA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201" r="28297" b="-3"/>
          <a:stretch/>
        </p:blipFill>
        <p:spPr>
          <a:xfrm>
            <a:off x="10498096" y="1264180"/>
            <a:ext cx="1693904" cy="3554668"/>
          </a:xfrm>
          <a:custGeom>
            <a:avLst/>
            <a:gdLst/>
            <a:ahLst/>
            <a:cxnLst/>
            <a:rect l="l" t="t" r="r" b="b"/>
            <a:pathLst>
              <a:path w="2258539" h="3554668">
                <a:moveTo>
                  <a:pt x="1777334" y="0"/>
                </a:moveTo>
                <a:cubicBezTo>
                  <a:pt x="1900033" y="0"/>
                  <a:pt x="2019829" y="12434"/>
                  <a:pt x="2135529" y="36109"/>
                </a:cubicBezTo>
                <a:lnTo>
                  <a:pt x="2258539" y="67738"/>
                </a:lnTo>
                <a:lnTo>
                  <a:pt x="2258539" y="3486930"/>
                </a:lnTo>
                <a:lnTo>
                  <a:pt x="2135529" y="3518559"/>
                </a:lnTo>
                <a:cubicBezTo>
                  <a:pt x="2019829" y="3542235"/>
                  <a:pt x="1900033" y="3554668"/>
                  <a:pt x="1777334" y="3554668"/>
                </a:cubicBezTo>
                <a:cubicBezTo>
                  <a:pt x="795739" y="3554668"/>
                  <a:pt x="0" y="2758929"/>
                  <a:pt x="0" y="1777334"/>
                </a:cubicBezTo>
                <a:cubicBezTo>
                  <a:pt x="0" y="795740"/>
                  <a:pt x="795739" y="0"/>
                  <a:pt x="1777334" y="0"/>
                </a:cubicBezTo>
                <a:close/>
              </a:path>
            </a:pathLst>
          </a:cu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5BFCFC8-CAB5-9CA4-3D9B-84EC38FF8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2031" y="7301229"/>
            <a:ext cx="68731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EEFBCC-0C58-4A99-AF7C-627613AAA17C}" type="slidenum">
              <a:rPr lang="cs-CZ" smtClean="0"/>
              <a:pPr>
                <a:spcAft>
                  <a:spcPts val="600"/>
                </a:spcAft>
              </a:pPr>
              <a:t>2</a:t>
            </a:fld>
            <a:endParaRPr lang="cs-CZ"/>
          </a:p>
        </p:txBody>
      </p:sp>
      <p:pic>
        <p:nvPicPr>
          <p:cNvPr id="6" name="Obrázek 5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FB1F0446-2BEF-5E7A-B0F6-4517835CF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9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Agenda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846" y="2595815"/>
            <a:ext cx="10515600" cy="378263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cs-CZ" dirty="0">
                <a:solidFill>
                  <a:schemeClr val="accent1"/>
                </a:solidFill>
              </a:rPr>
              <a:t>Teoretická část (před obědem)</a:t>
            </a:r>
            <a:endParaRPr lang="cs-CZ">
              <a:solidFill>
                <a:schemeClr val="accent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 dirty="0"/>
              <a:t>Malware obecně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 dirty="0"/>
              <a:t>Jak se sestavuje program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 dirty="0"/>
              <a:t>Základy analýzy malware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/>
              <a:t>Proč se dělá, jak to funguje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 dirty="0"/>
              <a:t>Statická / Dynamická analýza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 dirty="0"/>
              <a:t>Pokročilé techniky, tvorba malware, </a:t>
            </a:r>
            <a:r>
              <a:rPr lang="cs-CZ" sz="1800" dirty="0" err="1"/>
              <a:t>hacking</a:t>
            </a:r>
            <a:r>
              <a:rPr lang="cs-CZ" sz="1800" dirty="0"/>
              <a:t> </a:t>
            </a:r>
            <a:r>
              <a:rPr lang="cs-CZ" sz="1800" dirty="0" err="1"/>
              <a:t>field-kit</a:t>
            </a:r>
            <a:endParaRPr lang="cs-CZ" sz="1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 err="1"/>
              <a:t>Darknet</a:t>
            </a:r>
            <a:endParaRPr lang="cs-CZ" sz="1800"/>
          </a:p>
          <a:p>
            <a:pPr>
              <a:buAutoNum type="arabicPeriod"/>
            </a:pPr>
            <a:r>
              <a:rPr lang="cs-CZ" dirty="0">
                <a:solidFill>
                  <a:schemeClr val="accent1"/>
                </a:solidFill>
              </a:rPr>
              <a:t>   Praktická část (po obědě)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 dirty="0"/>
              <a:t>CTF, kde využijeme teoretické základy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 dirty="0" err="1"/>
              <a:t>Hacking</a:t>
            </a:r>
            <a:r>
              <a:rPr lang="cs-CZ" sz="1800" dirty="0"/>
              <a:t> </a:t>
            </a:r>
            <a:r>
              <a:rPr lang="cs-CZ" sz="1800" dirty="0" err="1"/>
              <a:t>field-kit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 dirty="0"/>
              <a:t>Chci v tom pokračovat, jak dál?</a:t>
            </a:r>
          </a:p>
          <a:p>
            <a:pPr>
              <a:buAutoNum type="arabicPeriod"/>
            </a:pP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endParaRPr lang="cs-CZ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Obrázek 3" descr="Obsah obrázku kostky, Hra v kostky, Stolní hra&#10;&#10;Popis se vygeneroval automaticky.">
            <a:extLst>
              <a:ext uri="{FF2B5EF4-FFF2-40B4-BE49-F238E27FC236}">
                <a16:creationId xmlns:a16="http://schemas.microsoft.com/office/drawing/2014/main" id="{452D68ED-B65A-4A1D-B64D-54220456A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45" y="2596206"/>
            <a:ext cx="36195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9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Obsah obrázku mapa, Grafika, umění&#10;&#10;Obsah generovaný pomocí AI může být nesprávný.">
            <a:extLst>
              <a:ext uri="{FF2B5EF4-FFF2-40B4-BE49-F238E27FC236}">
                <a16:creationId xmlns:a16="http://schemas.microsoft.com/office/drawing/2014/main" id="{342A1868-6490-D168-20ED-5FC548C9C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1250" y="1937212"/>
            <a:ext cx="5814514" cy="2979476"/>
          </a:xfrm>
          <a:ln>
            <a:solidFill>
              <a:srgbClr val="4472C4"/>
            </a:solidFill>
          </a:ln>
        </p:spPr>
      </p:pic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8C1A91D-F1D8-F93D-BE37-E28DA0E9F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8C9B5A15-B507-E36D-33AF-BF9FE8B84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931" y="5283816"/>
            <a:ext cx="3009900" cy="361950"/>
          </a:xfrm>
          <a:prstGeom prst="rect">
            <a:avLst/>
          </a:prstGeom>
        </p:spPr>
      </p:pic>
      <p:pic>
        <p:nvPicPr>
          <p:cNvPr id="13" name="Obrázek 12" descr="Obsah obrázku text, snímek obrazovky, Písmo, černá&#10;&#10;Obsah generovaný pomocí AI může být nesprávný.">
            <a:extLst>
              <a:ext uri="{FF2B5EF4-FFF2-40B4-BE49-F238E27FC236}">
                <a16:creationId xmlns:a16="http://schemas.microsoft.com/office/drawing/2014/main" id="{CB4FFC61-ABCD-23B3-9360-2CCD214C1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1407923"/>
            <a:ext cx="7886700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11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11050-64D0-A8D0-EF97-E545CE53B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A338DA04-574F-5E7D-A175-DECF56F16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7" name="Content Placeholder 6" descr="Obsah obrázku text, snímek obrazovky, kreslené&#10;&#10;Obsah generovaný pomocí AI může být nesprávný.">
            <a:extLst>
              <a:ext uri="{FF2B5EF4-FFF2-40B4-BE49-F238E27FC236}">
                <a16:creationId xmlns:a16="http://schemas.microsoft.com/office/drawing/2014/main" id="{D9D792EE-AE59-6766-3037-0DB1DA8A6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32593" y="1370700"/>
            <a:ext cx="4715440" cy="5374920"/>
          </a:xfrm>
        </p:spPr>
      </p:pic>
      <p:pic>
        <p:nvPicPr>
          <p:cNvPr id="2" name="Obrázek 1" descr="Obsah obrázku Lidská tvář, text, úsměv, osoba&#10;&#10;Obsah generovaný pomocí AI může být nesprávný.">
            <a:extLst>
              <a:ext uri="{FF2B5EF4-FFF2-40B4-BE49-F238E27FC236}">
                <a16:creationId xmlns:a16="http://schemas.microsoft.com/office/drawing/2014/main" id="{DD49430B-7960-3F3B-C222-A7DBF9DF6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2027" y="1368826"/>
            <a:ext cx="2054627" cy="249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9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8E1B9-D40E-D6FB-4E27-0621470DF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AAD9D9AE-C007-AF93-FEDE-699BF092E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12" name="Content Placeholder 11" descr="Obsah obrázku text, snímek obrazovky, displej, Zobrazovací zařízení&#10;&#10;Obsah generovaný pomocí AI může být nesprávný.">
            <a:extLst>
              <a:ext uri="{FF2B5EF4-FFF2-40B4-BE49-F238E27FC236}">
                <a16:creationId xmlns:a16="http://schemas.microsoft.com/office/drawing/2014/main" id="{7BAA84C4-6D56-382D-30F9-3F2F520F6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76602" y="1609535"/>
            <a:ext cx="5196380" cy="2929697"/>
          </a:xfrm>
        </p:spPr>
      </p:pic>
      <p:pic>
        <p:nvPicPr>
          <p:cNvPr id="13" name="Obrázek 12" descr="Obsah obrázku text, Písmo, snímek obrazovky, Grafika&#10;&#10;Obsah generovaný pomocí AI může být nesprávný.">
            <a:extLst>
              <a:ext uri="{FF2B5EF4-FFF2-40B4-BE49-F238E27FC236}">
                <a16:creationId xmlns:a16="http://schemas.microsoft.com/office/drawing/2014/main" id="{7968D7E7-83E2-AB70-ED35-95395BE73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004" y="4820929"/>
            <a:ext cx="3886200" cy="514350"/>
          </a:xfrm>
          <a:prstGeom prst="rect">
            <a:avLst/>
          </a:prstGeom>
        </p:spPr>
      </p:pic>
      <p:sp>
        <p:nvSpPr>
          <p:cNvPr id="17" name="TextovéPole 16">
            <a:extLst>
              <a:ext uri="{FF2B5EF4-FFF2-40B4-BE49-F238E27FC236}">
                <a16:creationId xmlns:a16="http://schemas.microsoft.com/office/drawing/2014/main" id="{0C061007-4F0A-EE7E-96C3-542262B720E4}"/>
              </a:ext>
            </a:extLst>
          </p:cNvPr>
          <p:cNvSpPr txBox="1"/>
          <p:nvPr/>
        </p:nvSpPr>
        <p:spPr>
          <a:xfrm>
            <a:off x="692150" y="1612900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/>
              <a:t>1. Virus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F31FABEE-E84F-B96C-33D8-2915AC174BCF}"/>
              </a:ext>
            </a:extLst>
          </p:cNvPr>
          <p:cNvSpPr txBox="1"/>
          <p:nvPr/>
        </p:nvSpPr>
        <p:spPr>
          <a:xfrm>
            <a:off x="522817" y="2692400"/>
            <a:ext cx="614045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err="1"/>
              <a:t>První</a:t>
            </a:r>
            <a:r>
              <a:rPr lang="en-US" dirty="0"/>
              <a:t> </a:t>
            </a:r>
            <a:r>
              <a:rPr lang="en-US" dirty="0" err="1"/>
              <a:t>typ</a:t>
            </a:r>
            <a:r>
              <a:rPr lang="en-US" dirty="0"/>
              <a:t> </a:t>
            </a:r>
            <a:r>
              <a:rPr lang="en-US" dirty="0" err="1"/>
              <a:t>malwaru</a:t>
            </a:r>
            <a:r>
              <a:rPr lang="en-US" dirty="0"/>
              <a:t>, </a:t>
            </a:r>
            <a:r>
              <a:rPr lang="en-US" dirty="0" err="1"/>
              <a:t>dnes</a:t>
            </a:r>
            <a:r>
              <a:rPr lang="en-US" dirty="0"/>
              <a:t> se </a:t>
            </a:r>
            <a:r>
              <a:rPr lang="en-US" dirty="0" err="1"/>
              <a:t>téměř</a:t>
            </a:r>
            <a:r>
              <a:rPr lang="en-US" dirty="0"/>
              <a:t> </a:t>
            </a:r>
            <a:r>
              <a:rPr lang="en-US" dirty="0" err="1"/>
              <a:t>nevyskytují</a:t>
            </a:r>
            <a:r>
              <a:rPr lang="en-US" dirty="0"/>
              <a:t> </a:t>
            </a:r>
            <a:endParaRPr lang="cs-CZ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„</a:t>
            </a:r>
            <a:r>
              <a:rPr lang="en-US" dirty="0" err="1"/>
              <a:t>Počítačový</a:t>
            </a:r>
            <a:r>
              <a:rPr lang="en-US" dirty="0"/>
              <a:t> virus je program, </a:t>
            </a:r>
            <a:r>
              <a:rPr lang="en-US" dirty="0" err="1"/>
              <a:t>který</a:t>
            </a:r>
            <a:r>
              <a:rPr lang="en-US" dirty="0"/>
              <a:t> </a:t>
            </a:r>
            <a:r>
              <a:rPr lang="en-US" dirty="0" err="1"/>
              <a:t>napadne</a:t>
            </a:r>
            <a:r>
              <a:rPr lang="en-US" dirty="0"/>
              <a:t> </a:t>
            </a:r>
            <a:r>
              <a:rPr lang="en-US" dirty="0" err="1"/>
              <a:t>spustitelný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přeložený</a:t>
            </a:r>
            <a:r>
              <a:rPr lang="en-US" dirty="0"/>
              <a:t> </a:t>
            </a:r>
            <a:r>
              <a:rPr lang="en-US" dirty="0" err="1"/>
              <a:t>soubor</a:t>
            </a:r>
            <a:r>
              <a:rPr lang="en-US" dirty="0"/>
              <a:t>.“ (Klander, s. 385)</a:t>
            </a:r>
            <a:endParaRPr lang="cs-CZ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err="1"/>
              <a:t>Termín</a:t>
            </a:r>
            <a:r>
              <a:rPr lang="en-US" dirty="0"/>
              <a:t> </a:t>
            </a:r>
            <a:r>
              <a:rPr lang="en-US" err="1"/>
              <a:t>poprvé</a:t>
            </a:r>
            <a:r>
              <a:rPr lang="en-US" dirty="0"/>
              <a:t> </a:t>
            </a:r>
            <a:r>
              <a:rPr lang="en-US" err="1"/>
              <a:t>použil</a:t>
            </a:r>
            <a:r>
              <a:rPr lang="en-US" dirty="0"/>
              <a:t> Fred Cohen v </a:t>
            </a:r>
            <a:r>
              <a:rPr lang="en-US" err="1"/>
              <a:t>roce</a:t>
            </a:r>
            <a:r>
              <a:rPr lang="en-US" dirty="0"/>
              <a:t> 1983 a </a:t>
            </a:r>
            <a:r>
              <a:rPr lang="en-US" err="1"/>
              <a:t>předvedl</a:t>
            </a:r>
            <a:r>
              <a:rPr lang="en-US" dirty="0"/>
              <a:t> </a:t>
            </a:r>
            <a:r>
              <a:rPr lang="en-US" err="1"/>
              <a:t>ukázku</a:t>
            </a:r>
            <a:r>
              <a:rPr lang="en-US" dirty="0"/>
              <a:t> </a:t>
            </a:r>
            <a:endParaRPr lang="cs-CZ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/>
              <a:t>Další</a:t>
            </a:r>
            <a:r>
              <a:rPr lang="en-US" dirty="0"/>
              <a:t> </a:t>
            </a:r>
            <a:r>
              <a:rPr lang="en-US" dirty="0" err="1"/>
              <a:t>možné</a:t>
            </a:r>
            <a:r>
              <a:rPr lang="en-US" dirty="0"/>
              <a:t> </a:t>
            </a:r>
            <a:r>
              <a:rPr lang="en-US" dirty="0" err="1"/>
              <a:t>členění</a:t>
            </a:r>
            <a:r>
              <a:rPr lang="en-US" dirty="0"/>
              <a:t>: </a:t>
            </a:r>
            <a:r>
              <a:rPr lang="en-US" dirty="0" err="1"/>
              <a:t>bootovací</a:t>
            </a:r>
            <a:r>
              <a:rPr lang="en-US" dirty="0"/>
              <a:t>, </a:t>
            </a:r>
            <a:r>
              <a:rPr lang="en-US" dirty="0" err="1"/>
              <a:t>souborové</a:t>
            </a:r>
            <a:r>
              <a:rPr lang="en-US" dirty="0"/>
              <a:t>, stealth, </a:t>
            </a:r>
            <a:r>
              <a:rPr lang="en-US" dirty="0" err="1"/>
              <a:t>polymorfní</a:t>
            </a:r>
            <a:r>
              <a:rPr lang="en-US" dirty="0"/>
              <a:t>, </a:t>
            </a:r>
            <a:r>
              <a:rPr lang="en-US" dirty="0" err="1"/>
              <a:t>generické</a:t>
            </a:r>
            <a:r>
              <a:rPr lang="en-US" dirty="0"/>
              <a:t>…, </a:t>
            </a:r>
            <a:r>
              <a:rPr lang="en-US" dirty="0" err="1"/>
              <a:t>makroviry</a:t>
            </a:r>
            <a:r>
              <a:rPr lang="en-US" dirty="0"/>
              <a:t> </a:t>
            </a:r>
            <a:endParaRPr lang="cs-CZ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err="1"/>
              <a:t>První</a:t>
            </a:r>
            <a:r>
              <a:rPr lang="en-US" dirty="0"/>
              <a:t> virus v </a:t>
            </a:r>
            <a:r>
              <a:rPr lang="en-US" err="1"/>
              <a:t>oběhu</a:t>
            </a:r>
            <a:r>
              <a:rPr lang="en-US" dirty="0"/>
              <a:t> = </a:t>
            </a:r>
            <a:r>
              <a:rPr lang="en-US" err="1"/>
              <a:t>bootovací</a:t>
            </a:r>
            <a:r>
              <a:rPr lang="en-US" dirty="0"/>
              <a:t> virus Brain v r. 1987, o </a:t>
            </a:r>
            <a:r>
              <a:rPr lang="en-US" err="1"/>
              <a:t>rok</a:t>
            </a:r>
            <a:r>
              <a:rPr lang="en-US" dirty="0"/>
              <a:t> </a:t>
            </a:r>
            <a:r>
              <a:rPr lang="en-US" err="1"/>
              <a:t>později</a:t>
            </a:r>
            <a:r>
              <a:rPr lang="en-US" dirty="0"/>
              <a:t> pro </a:t>
            </a:r>
            <a:r>
              <a:rPr lang="en-US" err="1"/>
              <a:t>něj</a:t>
            </a:r>
            <a:r>
              <a:rPr lang="en-US" dirty="0"/>
              <a:t> </a:t>
            </a:r>
            <a:r>
              <a:rPr lang="en-US" err="1"/>
              <a:t>vydán</a:t>
            </a:r>
            <a:r>
              <a:rPr lang="en-US" dirty="0"/>
              <a:t> </a:t>
            </a:r>
            <a:r>
              <a:rPr lang="en-US" err="1"/>
              <a:t>antivir</a:t>
            </a:r>
            <a:r>
              <a:rPr lang="en-US" dirty="0"/>
              <a:t> 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7219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D13D6-0FB9-EC4B-7C71-0F4DFE8A9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6C71D2EF-41B6-813E-BB3D-928E691CB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B76CC-7352-F4D4-6182-FC7C1B9A8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617" y="2460625"/>
            <a:ext cx="7478183" cy="428783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1800" dirty="0">
                <a:ea typeface="+mn-lt"/>
                <a:cs typeface="+mn-lt"/>
              </a:rPr>
              <a:t>vstup do systému přes síť bez autentizace uživatele</a:t>
            </a:r>
            <a:endParaRPr lang="cs-CZ" sz="1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 dirty="0">
                <a:ea typeface="+mn-lt"/>
                <a:cs typeface="+mn-lt"/>
              </a:rPr>
              <a:t>Mohou se šířit samostatně, vždy ale v síťovém prostředí</a:t>
            </a:r>
            <a:endParaRPr lang="cs-CZ" sz="1800" dirty="0"/>
          </a:p>
          <a:p>
            <a:endParaRPr lang="cs-CZ" sz="1800" dirty="0">
              <a:ea typeface="+mn-lt"/>
              <a:cs typeface="+mn-lt"/>
            </a:endParaRPr>
          </a:p>
          <a:p>
            <a:r>
              <a:rPr lang="cs-CZ" sz="1800" dirty="0">
                <a:ea typeface="+mn-lt"/>
                <a:cs typeface="+mn-lt"/>
              </a:rPr>
              <a:t>Kontakty z adresářů, uložené, stanovené IP adresy, kombinace doménových jmen…</a:t>
            </a:r>
            <a:endParaRPr lang="cs-CZ" sz="1800" dirty="0"/>
          </a:p>
          <a:p>
            <a:endParaRPr lang="cs-CZ" sz="1800" dirty="0"/>
          </a:p>
          <a:p>
            <a:r>
              <a:rPr lang="cs-CZ" sz="1800" dirty="0">
                <a:ea typeface="+mn-lt"/>
                <a:cs typeface="+mn-lt"/>
              </a:rPr>
              <a:t>1. </a:t>
            </a:r>
            <a:r>
              <a:rPr lang="cs-CZ" sz="1800" dirty="0" err="1">
                <a:ea typeface="+mn-lt"/>
                <a:cs typeface="+mn-lt"/>
              </a:rPr>
              <a:t>Worm</a:t>
            </a:r>
            <a:r>
              <a:rPr lang="cs-CZ" sz="1800" dirty="0">
                <a:ea typeface="+mn-lt"/>
                <a:cs typeface="+mn-lt"/>
              </a:rPr>
              <a:t> (R. T. Morris) 2.11.1988 – v napadeném počítači se množil a rozesílal, až počítač „zamrzl“</a:t>
            </a:r>
            <a:endParaRPr lang="cs-CZ" sz="1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 dirty="0">
                <a:ea typeface="+mn-lt"/>
                <a:cs typeface="+mn-lt"/>
              </a:rPr>
              <a:t>zneužíval chybu v </a:t>
            </a:r>
            <a:r>
              <a:rPr lang="cs-CZ" sz="1800" dirty="0" err="1">
                <a:ea typeface="+mn-lt"/>
                <a:cs typeface="+mn-lt"/>
              </a:rPr>
              <a:t>sendmailu</a:t>
            </a:r>
            <a:endParaRPr lang="cs-CZ" sz="1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 dirty="0">
                <a:ea typeface="+mn-lt"/>
                <a:cs typeface="+mn-lt"/>
              </a:rPr>
              <a:t>nakazil jeden počítač i několikrát</a:t>
            </a:r>
            <a:endParaRPr lang="cs-CZ" sz="1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 dirty="0">
                <a:ea typeface="+mn-lt"/>
                <a:cs typeface="+mn-lt"/>
              </a:rPr>
              <a:t>nakazil asi 10 % všech počítačů připojených k Internetu</a:t>
            </a:r>
            <a:endParaRPr lang="cs-CZ" sz="1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800" dirty="0">
                <a:ea typeface="+mn-lt"/>
                <a:cs typeface="+mn-lt"/>
              </a:rPr>
              <a:t>vypuštěn z MIT, autor/student podmíněně odsouzen</a:t>
            </a:r>
            <a:endParaRPr lang="cs-CZ" sz="1800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autor je nyní paradoxně profesorem na MIT :-)</a:t>
            </a:r>
            <a:endParaRPr lang="cs-CZ" sz="1600"/>
          </a:p>
          <a:p>
            <a:endParaRPr lang="cs-CZ" sz="1800" dirty="0"/>
          </a:p>
          <a:p>
            <a:endParaRPr lang="cs-CZ" sz="1800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75072EB1-D4AA-4787-365D-4ED8EF2CDE04}"/>
              </a:ext>
            </a:extLst>
          </p:cNvPr>
          <p:cNvSpPr txBox="1"/>
          <p:nvPr/>
        </p:nvSpPr>
        <p:spPr>
          <a:xfrm>
            <a:off x="692150" y="1612900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/>
              <a:t>2. </a:t>
            </a:r>
            <a:r>
              <a:rPr lang="en-US" sz="4800" dirty="0" err="1"/>
              <a:t>Červ</a:t>
            </a:r>
          </a:p>
        </p:txBody>
      </p:sp>
      <p:pic>
        <p:nvPicPr>
          <p:cNvPr id="5" name="Obrázek 4" descr="Obsah obrázku text, snímek obrazovky, Písmo, diagram&#10;&#10;Obsah generovaný pomocí AI může být nesprávný.">
            <a:extLst>
              <a:ext uri="{FF2B5EF4-FFF2-40B4-BE49-F238E27FC236}">
                <a16:creationId xmlns:a16="http://schemas.microsoft.com/office/drawing/2014/main" id="{EFA36DCD-063C-CE7B-AF7F-C873CE6D2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725" y="1711325"/>
            <a:ext cx="4170101" cy="34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84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BF51-F572-0CD6-9480-555FE55C7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065F7D42-A353-EEF4-96D6-BEF2A8C51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50D69-304E-1BE5-BC50-066A3109C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7" y="2746375"/>
            <a:ext cx="6335184" cy="380100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1800" dirty="0">
                <a:ea typeface="+mn-lt"/>
                <a:cs typeface="+mn-lt"/>
              </a:rPr>
              <a:t>program má funkci, o které uživatel neví</a:t>
            </a:r>
            <a:endParaRPr lang="cs-CZ" sz="1800" dirty="0"/>
          </a:p>
          <a:p>
            <a:r>
              <a:rPr lang="cs-CZ" sz="1800" dirty="0">
                <a:ea typeface="+mn-lt"/>
                <a:cs typeface="+mn-lt"/>
              </a:rPr>
              <a:t>vydává se za „užitečný program“, např. šetřiče obrazovky ... </a:t>
            </a:r>
            <a:endParaRPr lang="cs-CZ" sz="1800"/>
          </a:p>
          <a:p>
            <a:r>
              <a:rPr lang="cs-CZ" sz="1800" dirty="0">
                <a:ea typeface="+mn-lt"/>
                <a:cs typeface="+mn-lt"/>
              </a:rPr>
              <a:t>ve Windows usnadněno skrýváním přípony, např. obrázek není jen obrázkem, ale program - mimo otevření obrázku například nainstaluje </a:t>
            </a:r>
            <a:r>
              <a:rPr lang="cs-CZ" sz="1800" dirty="0" err="1">
                <a:ea typeface="+mn-lt"/>
                <a:cs typeface="+mn-lt"/>
              </a:rPr>
              <a:t>rootkit</a:t>
            </a:r>
            <a:r>
              <a:rPr lang="cs-CZ" sz="1800" dirty="0">
                <a:ea typeface="+mn-lt"/>
                <a:cs typeface="+mn-lt"/>
              </a:rPr>
              <a:t>, </a:t>
            </a:r>
            <a:r>
              <a:rPr lang="cs-CZ" sz="1800" dirty="0" err="1">
                <a:ea typeface="+mn-lt"/>
                <a:cs typeface="+mn-lt"/>
              </a:rPr>
              <a:t>keylogger</a:t>
            </a:r>
            <a:r>
              <a:rPr lang="cs-CZ" sz="1800" dirty="0">
                <a:ea typeface="+mn-lt"/>
                <a:cs typeface="+mn-lt"/>
              </a:rPr>
              <a:t>, </a:t>
            </a:r>
            <a:r>
              <a:rPr lang="cs-CZ" sz="1800" dirty="0" err="1">
                <a:ea typeface="+mn-lt"/>
                <a:cs typeface="+mn-lt"/>
              </a:rPr>
              <a:t>botnet</a:t>
            </a:r>
            <a:r>
              <a:rPr lang="cs-CZ" sz="1800" dirty="0">
                <a:ea typeface="+mn-lt"/>
                <a:cs typeface="+mn-lt"/>
              </a:rPr>
              <a:t> a podobně</a:t>
            </a:r>
            <a:endParaRPr lang="cs-CZ" sz="1800"/>
          </a:p>
          <a:p>
            <a:r>
              <a:rPr lang="cs-CZ" sz="1800" dirty="0">
                <a:ea typeface="+mn-lt"/>
                <a:cs typeface="+mn-lt"/>
              </a:rPr>
              <a:t>trojský kůň se sám nedokáže dále šířit, ale dokáže:</a:t>
            </a:r>
            <a:endParaRPr lang="cs-CZ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>
                <a:ea typeface="+mn-lt"/>
                <a:cs typeface="+mn-lt"/>
              </a:rPr>
              <a:t>Smazat, upravit nebo ukrást data</a:t>
            </a:r>
            <a:endParaRPr lang="cs-CZ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>
                <a:ea typeface="+mn-lt"/>
                <a:cs typeface="+mn-lt"/>
              </a:rPr>
              <a:t>Špehovat uživatele </a:t>
            </a:r>
            <a:endParaRPr lang="cs-CZ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>
                <a:ea typeface="+mn-lt"/>
                <a:cs typeface="+mn-lt"/>
              </a:rPr>
              <a:t>Přistupovat k sítím        </a:t>
            </a:r>
            <a:endParaRPr lang="cs-CZ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>
                <a:ea typeface="+mn-lt"/>
                <a:cs typeface="+mn-lt"/>
              </a:rPr>
              <a:t>Zahájit útoky </a:t>
            </a:r>
            <a:r>
              <a:rPr lang="cs-CZ" sz="1600" err="1">
                <a:ea typeface="+mn-lt"/>
                <a:cs typeface="+mn-lt"/>
              </a:rPr>
              <a:t>DDoS</a:t>
            </a:r>
            <a:r>
              <a:rPr lang="cs-CZ" sz="1600" dirty="0">
                <a:ea typeface="+mn-lt"/>
                <a:cs typeface="+mn-lt"/>
              </a:rPr>
              <a:t>        </a:t>
            </a:r>
            <a:endParaRPr lang="cs-CZ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>
                <a:ea typeface="+mn-lt"/>
                <a:cs typeface="+mn-lt"/>
              </a:rPr>
              <a:t>Převzít vzdálenou kontrolu nad zařízeními</a:t>
            </a:r>
            <a:endParaRPr lang="cs-CZ" sz="160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26C07BF0-FA72-4CB6-F34C-665DA1FDC7EE}"/>
              </a:ext>
            </a:extLst>
          </p:cNvPr>
          <p:cNvSpPr txBox="1"/>
          <p:nvPr/>
        </p:nvSpPr>
        <p:spPr>
          <a:xfrm>
            <a:off x="692150" y="1612900"/>
            <a:ext cx="448945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/>
              <a:t>3. </a:t>
            </a:r>
            <a:r>
              <a:rPr lang="en-US" sz="4800" dirty="0" err="1"/>
              <a:t>Trojský</a:t>
            </a:r>
            <a:r>
              <a:rPr lang="en-US" sz="4800" dirty="0"/>
              <a:t> </a:t>
            </a:r>
            <a:r>
              <a:rPr lang="en-US" sz="4800" dirty="0" err="1"/>
              <a:t>kůň</a:t>
            </a:r>
          </a:p>
        </p:txBody>
      </p:sp>
      <p:pic>
        <p:nvPicPr>
          <p:cNvPr id="6" name="Obrázek 5" descr="Obsah obrázku text, snímek obrazovky, grafický design, Elektricky modrá&#10;&#10;Obsah generovaný pomocí AI může být nesprávný.">
            <a:extLst>
              <a:ext uri="{FF2B5EF4-FFF2-40B4-BE49-F238E27FC236}">
                <a16:creationId xmlns:a16="http://schemas.microsoft.com/office/drawing/2014/main" id="{9A2A70EE-DAAE-799A-6C24-B904851DA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909" y="2305074"/>
            <a:ext cx="4690534" cy="303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21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1E450-9D30-E7C3-0468-EEDB5F3B9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A9467D24-2E53-40C8-28FC-5B00966A7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45C3BB63-C9E4-F35B-1707-2BC399F34B21}"/>
              </a:ext>
            </a:extLst>
          </p:cNvPr>
          <p:cNvSpPr txBox="1"/>
          <p:nvPr/>
        </p:nvSpPr>
        <p:spPr>
          <a:xfrm>
            <a:off x="692150" y="1612900"/>
            <a:ext cx="448945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/>
              <a:t>4. Ransomware</a:t>
            </a:r>
            <a:endParaRPr lang="en-US" sz="4800" dirty="0" err="1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D5C416A9-7E0F-4CF9-1833-F6216F47976B}"/>
              </a:ext>
            </a:extLst>
          </p:cNvPr>
          <p:cNvSpPr txBox="1"/>
          <p:nvPr/>
        </p:nvSpPr>
        <p:spPr>
          <a:xfrm>
            <a:off x="692150" y="2808816"/>
            <a:ext cx="619336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err="1"/>
              <a:t>zašifruje</a:t>
            </a:r>
            <a:r>
              <a:rPr lang="en-US" dirty="0"/>
              <a:t> data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disku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umožňuje</a:t>
            </a:r>
            <a:r>
              <a:rPr lang="en-US" dirty="0"/>
              <a:t> k nim </a:t>
            </a:r>
            <a:r>
              <a:rPr lang="en-US" dirty="0" err="1"/>
              <a:t>přístup</a:t>
            </a:r>
            <a:r>
              <a:rPr lang="en-US" dirty="0"/>
              <a:t> (v </a:t>
            </a:r>
            <a:r>
              <a:rPr lang="en-US" dirty="0" err="1"/>
              <a:t>zašifrované</a:t>
            </a:r>
            <a:r>
              <a:rPr lang="en-US" dirty="0"/>
              <a:t> </a:t>
            </a:r>
            <a:r>
              <a:rPr lang="en-US" dirty="0" err="1"/>
              <a:t>podobě</a:t>
            </a:r>
            <a:r>
              <a:rPr lang="en-US" dirty="0"/>
              <a:t>)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err="1"/>
              <a:t>pak</a:t>
            </a:r>
            <a:r>
              <a:rPr lang="en-US" dirty="0"/>
              <a:t> </a:t>
            </a:r>
            <a:r>
              <a:rPr lang="en-US" err="1"/>
              <a:t>požádá</a:t>
            </a:r>
            <a:r>
              <a:rPr lang="en-US" dirty="0"/>
              <a:t> o </a:t>
            </a:r>
            <a:r>
              <a:rPr lang="en-US" err="1"/>
              <a:t>výpalné</a:t>
            </a:r>
            <a:r>
              <a:rPr lang="en-US" dirty="0"/>
              <a:t> (Bitcoin) 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err="1"/>
              <a:t>když</a:t>
            </a:r>
            <a:r>
              <a:rPr lang="en-US" dirty="0"/>
              <a:t> </a:t>
            </a:r>
            <a:r>
              <a:rPr lang="en-US" err="1"/>
              <a:t>nezaplatíš</a:t>
            </a:r>
            <a:r>
              <a:rPr lang="en-US" dirty="0"/>
              <a:t>, </a:t>
            </a:r>
            <a:r>
              <a:rPr lang="en-US" err="1"/>
              <a:t>přijdeš</a:t>
            </a:r>
            <a:r>
              <a:rPr lang="en-US" dirty="0"/>
              <a:t> o data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/>
              <a:t>když</a:t>
            </a:r>
            <a:r>
              <a:rPr lang="en-US" dirty="0"/>
              <a:t> </a:t>
            </a:r>
            <a:r>
              <a:rPr lang="en-US" err="1"/>
              <a:t>zaplatíš</a:t>
            </a:r>
            <a:r>
              <a:rPr lang="en-US" dirty="0"/>
              <a:t>, </a:t>
            </a:r>
            <a:r>
              <a:rPr lang="en-US" err="1"/>
              <a:t>stejně</a:t>
            </a:r>
            <a:r>
              <a:rPr lang="en-US" dirty="0"/>
              <a:t> </a:t>
            </a:r>
            <a:r>
              <a:rPr lang="en-US" err="1"/>
              <a:t>nemusíš</a:t>
            </a:r>
            <a:r>
              <a:rPr lang="en-US" dirty="0"/>
              <a:t> </a:t>
            </a:r>
            <a:r>
              <a:rPr lang="en-US" err="1"/>
              <a:t>dostat</a:t>
            </a:r>
            <a:r>
              <a:rPr lang="en-US" dirty="0"/>
              <a:t> </a:t>
            </a:r>
            <a:r>
              <a:rPr lang="en-US" err="1"/>
              <a:t>dešifrovací</a:t>
            </a:r>
            <a:r>
              <a:rPr lang="en-US" dirty="0"/>
              <a:t> </a:t>
            </a:r>
            <a:r>
              <a:rPr lang="en-US" err="1"/>
              <a:t>klíč</a:t>
            </a:r>
            <a:r>
              <a:rPr lang="en-US" dirty="0"/>
              <a:t> 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u </a:t>
            </a:r>
            <a:r>
              <a:rPr lang="en-US" dirty="0" err="1"/>
              <a:t>některých</a:t>
            </a:r>
            <a:r>
              <a:rPr lang="en-US" dirty="0"/>
              <a:t> </a:t>
            </a:r>
            <a:r>
              <a:rPr lang="en-US" dirty="0" err="1"/>
              <a:t>typů</a:t>
            </a:r>
            <a:r>
              <a:rPr lang="en-US" dirty="0"/>
              <a:t> je </a:t>
            </a:r>
            <a:r>
              <a:rPr lang="en-US" dirty="0" err="1"/>
              <a:t>možné</a:t>
            </a:r>
            <a:r>
              <a:rPr lang="en-US" dirty="0"/>
              <a:t> </a:t>
            </a:r>
            <a:r>
              <a:rPr lang="en-US" dirty="0" err="1"/>
              <a:t>dešifrování</a:t>
            </a:r>
            <a:r>
              <a:rPr lang="en-US" dirty="0"/>
              <a:t> 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err="1"/>
              <a:t>Některý</a:t>
            </a:r>
            <a:r>
              <a:rPr lang="en-US" dirty="0"/>
              <a:t> </a:t>
            </a:r>
            <a:r>
              <a:rPr lang="en-US" err="1"/>
              <a:t>zašifruje</a:t>
            </a:r>
            <a:r>
              <a:rPr lang="en-US" dirty="0"/>
              <a:t> </a:t>
            </a:r>
            <a:r>
              <a:rPr lang="en-US" err="1"/>
              <a:t>i</a:t>
            </a:r>
            <a:r>
              <a:rPr lang="en-US" dirty="0"/>
              <a:t> data </a:t>
            </a:r>
            <a:r>
              <a:rPr lang="en-US" err="1"/>
              <a:t>na</a:t>
            </a:r>
            <a:r>
              <a:rPr lang="en-US" dirty="0"/>
              <a:t> flash / </a:t>
            </a:r>
            <a:r>
              <a:rPr lang="en-US" err="1"/>
              <a:t>síťovém</a:t>
            </a:r>
            <a:r>
              <a:rPr lang="en-US" dirty="0"/>
              <a:t> </a:t>
            </a:r>
            <a:r>
              <a:rPr lang="en-US" err="1"/>
              <a:t>disku</a:t>
            </a:r>
            <a:endParaRPr lang="en-US"/>
          </a:p>
        </p:txBody>
      </p:sp>
      <p:pic>
        <p:nvPicPr>
          <p:cNvPr id="7" name="Obrázek 6" descr="Global Ransomware Damage Costs Predicted To Exceed $265 Billion By 2031">
            <a:extLst>
              <a:ext uri="{FF2B5EF4-FFF2-40B4-BE49-F238E27FC236}">
                <a16:creationId xmlns:a16="http://schemas.microsoft.com/office/drawing/2014/main" id="{4D020B76-5C40-1380-E4A3-AD27C3F92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187" y="3992168"/>
            <a:ext cx="4688005" cy="2635327"/>
          </a:xfrm>
          <a:prstGeom prst="rect">
            <a:avLst/>
          </a:prstGeom>
        </p:spPr>
      </p:pic>
      <p:pic>
        <p:nvPicPr>
          <p:cNvPr id="11" name="Obrázek 10" descr="Obsah obrázku text, Grafika, plakát, Písmo&#10;&#10;Obsah generovaný pomocí AI může být nesprávný.">
            <a:extLst>
              <a:ext uri="{FF2B5EF4-FFF2-40B4-BE49-F238E27FC236}">
                <a16:creationId xmlns:a16="http://schemas.microsoft.com/office/drawing/2014/main" id="{A60C542F-BE23-B03A-2D46-8186B628E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952" y="1278098"/>
            <a:ext cx="2272353" cy="2340591"/>
          </a:xfrm>
          <a:prstGeom prst="rect">
            <a:avLst/>
          </a:prstGeom>
        </p:spPr>
      </p:pic>
      <p:sp>
        <p:nvSpPr>
          <p:cNvPr id="12" name="TextovéPole 11">
            <a:extLst>
              <a:ext uri="{FF2B5EF4-FFF2-40B4-BE49-F238E27FC236}">
                <a16:creationId xmlns:a16="http://schemas.microsoft.com/office/drawing/2014/main" id="{C581A9D8-572A-4F8C-4EF7-5AC74A9AFFDA}"/>
              </a:ext>
            </a:extLst>
          </p:cNvPr>
          <p:cNvSpPr txBox="1"/>
          <p:nvPr/>
        </p:nvSpPr>
        <p:spPr>
          <a:xfrm>
            <a:off x="7579355" y="2804932"/>
            <a:ext cx="17235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5"/>
              </a:rPr>
              <a:t>Rychlost šíření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F6A429D7-E724-6E31-ED45-9FD1C3DAA100}"/>
              </a:ext>
            </a:extLst>
          </p:cNvPr>
          <p:cNvSpPr txBox="1"/>
          <p:nvPr/>
        </p:nvSpPr>
        <p:spPr>
          <a:xfrm>
            <a:off x="7579354" y="2023640"/>
            <a:ext cx="17235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6"/>
              </a:rPr>
              <a:t>Jak to vypadá</a:t>
            </a:r>
          </a:p>
        </p:txBody>
      </p:sp>
    </p:spTree>
    <p:extLst>
      <p:ext uri="{BB962C8B-B14F-4D97-AF65-F5344CB8AC3E}">
        <p14:creationId xmlns:p14="http://schemas.microsoft.com/office/powerpoint/2010/main" val="4161785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BAA0E-8CE1-1532-6C06-866542CD8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34E12C84-DFA6-7939-05D9-C4B0B31B9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30C74-1139-B8DF-1A1B-A2F181F75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783" y="2640542"/>
            <a:ext cx="70231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>
                <a:ea typeface="+mn-lt"/>
                <a:cs typeface="+mn-lt"/>
              </a:rPr>
              <a:t>Rozšířená verze zadních vrátek...</a:t>
            </a:r>
          </a:p>
          <a:p>
            <a:r>
              <a:rPr lang="cs-CZ" sz="2000" dirty="0">
                <a:ea typeface="+mn-lt"/>
                <a:cs typeface="+mn-lt"/>
              </a:rPr>
              <a:t>SW, který utajuje přítomnost nelegální činnosti útočníka a přítomnost malwaru </a:t>
            </a:r>
            <a:endParaRPr lang="cs-CZ" sz="2000"/>
          </a:p>
          <a:p>
            <a:r>
              <a:rPr lang="cs-CZ" sz="2000" dirty="0">
                <a:ea typeface="+mn-lt"/>
                <a:cs typeface="+mn-lt"/>
              </a:rPr>
              <a:t>Útočník chce, aby jeho aktivita nešla zaznamenat a mohl se tak rychle dostat do systému. V tom mu pomáhá </a:t>
            </a:r>
            <a:r>
              <a:rPr lang="cs-CZ" sz="2000" err="1">
                <a:ea typeface="+mn-lt"/>
                <a:cs typeface="+mn-lt"/>
              </a:rPr>
              <a:t>rootkit</a:t>
            </a:r>
            <a:r>
              <a:rPr lang="cs-CZ" sz="2000" dirty="0">
                <a:ea typeface="+mn-lt"/>
                <a:cs typeface="+mn-lt"/>
              </a:rPr>
              <a:t>. </a:t>
            </a:r>
            <a:endParaRPr lang="cs-CZ" sz="2000"/>
          </a:p>
          <a:p>
            <a:r>
              <a:rPr lang="cs-CZ" sz="2000" dirty="0">
                <a:ea typeface="+mn-lt"/>
                <a:cs typeface="+mn-lt"/>
              </a:rPr>
              <a:t>Uživatel díky </a:t>
            </a:r>
            <a:r>
              <a:rPr lang="cs-CZ" sz="2000" err="1">
                <a:ea typeface="+mn-lt"/>
                <a:cs typeface="+mn-lt"/>
              </a:rPr>
              <a:t>rootkitu</a:t>
            </a:r>
            <a:r>
              <a:rPr lang="cs-CZ" sz="2000" dirty="0">
                <a:ea typeface="+mn-lt"/>
                <a:cs typeface="+mn-lt"/>
              </a:rPr>
              <a:t> například nepozná, že útočník jeho počítač dálkově ovládá přes vzdálenou plochu</a:t>
            </a:r>
            <a:endParaRPr lang="cs-CZ" sz="2000"/>
          </a:p>
          <a:p>
            <a:r>
              <a:rPr lang="cs-CZ" sz="2000" dirty="0">
                <a:ea typeface="+mn-lt"/>
                <a:cs typeface="+mn-lt"/>
              </a:rPr>
              <a:t>instalován typicky po úspěšném napadení zařízení</a:t>
            </a:r>
            <a:endParaRPr lang="cs-CZ" sz="2000"/>
          </a:p>
          <a:p>
            <a:r>
              <a:rPr lang="cs-CZ" sz="2000" dirty="0">
                <a:ea typeface="+mn-lt"/>
                <a:cs typeface="+mn-lt"/>
              </a:rPr>
              <a:t>zajistí přístup k počítači i po záplatování chyby</a:t>
            </a:r>
            <a:endParaRPr lang="cs-CZ" sz="200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89835C2B-7186-3401-5C54-B17CF179E9DC}"/>
              </a:ext>
            </a:extLst>
          </p:cNvPr>
          <p:cNvSpPr txBox="1"/>
          <p:nvPr/>
        </p:nvSpPr>
        <p:spPr>
          <a:xfrm>
            <a:off x="692150" y="1612900"/>
            <a:ext cx="448945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/>
              <a:t>5. Rootkit</a:t>
            </a:r>
            <a:endParaRPr lang="cs-CZ" dirty="0"/>
          </a:p>
        </p:txBody>
      </p:sp>
      <p:pic>
        <p:nvPicPr>
          <p:cNvPr id="5" name="Obrázek 4" descr="Obsah obrázku obvod, Elektronická součástka, Elektronické inženýrství, Obvodoví součástka&#10;&#10;Obsah generovaný pomocí AI může být nesprávný.">
            <a:extLst>
              <a:ext uri="{FF2B5EF4-FFF2-40B4-BE49-F238E27FC236}">
                <a16:creationId xmlns:a16="http://schemas.microsoft.com/office/drawing/2014/main" id="{63921BE9-4283-02E8-D03B-B66670FD4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333" y="1828855"/>
            <a:ext cx="4011874" cy="2673967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13F828C2-7DE8-4749-ECF2-CDE836B862FA}"/>
              </a:ext>
            </a:extLst>
          </p:cNvPr>
          <p:cNvSpPr txBox="1"/>
          <p:nvPr/>
        </p:nvSpPr>
        <p:spPr>
          <a:xfrm>
            <a:off x="8661400" y="4819650"/>
            <a:ext cx="3145367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UEFI Rootkit malware </a:t>
            </a:r>
            <a:endParaRPr lang="cs-CZ"/>
          </a:p>
          <a:p>
            <a:pPr marL="285750" indent="-285750">
              <a:buFont typeface="Calibri"/>
              <a:buChar char="-"/>
            </a:pPr>
            <a:r>
              <a:rPr lang="en-US" sz="1400" dirty="0"/>
              <a:t>1. </a:t>
            </a:r>
            <a:r>
              <a:rPr lang="en-US" sz="1400" err="1"/>
              <a:t>na</a:t>
            </a:r>
            <a:r>
              <a:rPr lang="en-US" sz="1400" dirty="0"/>
              <a:t> </a:t>
            </a:r>
            <a:r>
              <a:rPr lang="en-US" sz="1400" err="1"/>
              <a:t>světě</a:t>
            </a:r>
            <a:r>
              <a:rPr lang="en-US" sz="1400" dirty="0"/>
              <a:t> </a:t>
            </a:r>
          </a:p>
          <a:p>
            <a:pPr marL="285750" indent="-285750">
              <a:buFont typeface="Calibri"/>
              <a:buChar char="-"/>
            </a:pPr>
            <a:r>
              <a:rPr lang="en-US" sz="1400" err="1"/>
              <a:t>červenec</a:t>
            </a:r>
            <a:r>
              <a:rPr lang="en-US" sz="1400" dirty="0"/>
              <a:t> 2022 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/>
              <a:t>firmware MB Gigabyte H81 chipset </a:t>
            </a:r>
          </a:p>
          <a:p>
            <a:pPr marL="285750" indent="-285750">
              <a:buFont typeface="Calibri"/>
              <a:buChar char="-"/>
            </a:pPr>
            <a:r>
              <a:rPr lang="en-US" sz="1400" err="1"/>
              <a:t>Čínská</a:t>
            </a:r>
            <a:r>
              <a:rPr lang="en-US" sz="1400" dirty="0"/>
              <a:t> APT </a:t>
            </a:r>
            <a:r>
              <a:rPr lang="en-US" sz="1400" err="1"/>
              <a:t>skupina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401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Ring 0-3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Mechanismus ochrany dat a funkcí </a:t>
            </a:r>
          </a:p>
          <a:p>
            <a:endParaRPr lang="cs-CZ" sz="2400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Ring 0: Prostor jádra (nejvíce oprávnění)</a:t>
            </a:r>
            <a:endParaRPr lang="en-US" dirty="0"/>
          </a:p>
          <a:p>
            <a:r>
              <a:rPr lang="cs-CZ" sz="2400" dirty="0">
                <a:ea typeface="+mn-lt"/>
                <a:cs typeface="+mn-lt"/>
              </a:rPr>
              <a:t>Ring 3: Uživatelský prostor (nejmenší oprávnění)</a:t>
            </a:r>
            <a:endParaRPr lang="cs-CZ" dirty="0"/>
          </a:p>
          <a:p>
            <a:pPr marL="0" indent="0">
              <a:buNone/>
            </a:pPr>
            <a:endParaRPr lang="cs-CZ" sz="2400" dirty="0"/>
          </a:p>
          <a:p>
            <a:r>
              <a:rPr lang="cs-CZ" sz="2400" dirty="0">
                <a:ea typeface="+mn-lt"/>
                <a:cs typeface="+mn-lt"/>
              </a:rPr>
              <a:t>Systémová volání pro vyžádání služby od kernelu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Linux: man 2 &lt;funkce&gt;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Windows: abstrakce pomocí API</a:t>
            </a:r>
            <a:endParaRPr lang="cs-CZ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F4318D-2A95-0C05-F1A8-9D546C8F0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699" y="1634898"/>
            <a:ext cx="4299403" cy="316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62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C7236-7D0D-B863-14CD-90CCE46C1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EE8AC2EF-CFCD-76CA-5F92-2E2A34C6B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73FA-2563-BD6B-E432-29AA818F3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33" y="2502959"/>
            <a:ext cx="70231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>
                <a:ea typeface="+mn-lt"/>
                <a:cs typeface="+mn-lt"/>
              </a:rPr>
              <a:t>bez vědomí uživatele sbírá (a odesílá) informace</a:t>
            </a:r>
            <a:endParaRPr lang="cs-CZ" dirty="0"/>
          </a:p>
          <a:p>
            <a:r>
              <a:rPr lang="cs-CZ" sz="2000" dirty="0">
                <a:ea typeface="+mn-lt"/>
                <a:cs typeface="+mn-lt"/>
              </a:rPr>
              <a:t>stisknuté klávesy, data uživatele…</a:t>
            </a:r>
            <a:endParaRPr lang="cs-CZ" dirty="0"/>
          </a:p>
          <a:p>
            <a:r>
              <a:rPr lang="cs-CZ" sz="2000" dirty="0">
                <a:ea typeface="+mn-lt"/>
                <a:cs typeface="+mn-lt"/>
              </a:rPr>
              <a:t>DARKHOTEL (2007-2014)</a:t>
            </a:r>
            <a:endParaRPr lang="cs-CZ" dirty="0"/>
          </a:p>
          <a:p>
            <a:r>
              <a:rPr lang="cs-CZ" sz="2000" dirty="0">
                <a:ea typeface="+mn-lt"/>
                <a:cs typeface="+mn-lt"/>
              </a:rPr>
              <a:t>PEGASUS (2021)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>
                <a:ea typeface="+mn-lt"/>
                <a:cs typeface="+mn-lt"/>
              </a:rPr>
              <a:t>NSO Group (IZ)</a:t>
            </a:r>
            <a:endParaRPr lang="cs-CZ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200" dirty="0">
                <a:ea typeface="+mn-lt"/>
                <a:cs typeface="+mn-lt"/>
              </a:rPr>
              <a:t>2019 </a:t>
            </a:r>
            <a:r>
              <a:rPr lang="cs-CZ" sz="1200" err="1">
                <a:ea typeface="+mn-lt"/>
                <a:cs typeface="+mn-lt"/>
              </a:rPr>
              <a:t>hacknula</a:t>
            </a:r>
            <a:r>
              <a:rPr lang="cs-CZ" sz="1200" dirty="0">
                <a:ea typeface="+mn-lt"/>
                <a:cs typeface="+mn-lt"/>
              </a:rPr>
              <a:t> </a:t>
            </a:r>
            <a:r>
              <a:rPr lang="cs-CZ" sz="1200" err="1">
                <a:ea typeface="+mn-lt"/>
                <a:cs typeface="+mn-lt"/>
              </a:rPr>
              <a:t>Whatsapp</a:t>
            </a:r>
            <a:r>
              <a:rPr lang="cs-CZ" sz="1200" dirty="0">
                <a:ea typeface="+mn-lt"/>
                <a:cs typeface="+mn-lt"/>
              </a:rPr>
              <a:t> a prodávala komunikaci vládních představitelů 21 zemí</a:t>
            </a:r>
            <a:endParaRPr lang="cs-CZ" sz="120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>
                <a:ea typeface="+mn-lt"/>
                <a:cs typeface="+mn-lt"/>
              </a:rPr>
              <a:t>Zaměřoval se na vládní představitele, nejbohatší lidi světa, vlivné novináře…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 err="1">
                <a:ea typeface="+mn-lt"/>
                <a:cs typeface="+mn-lt"/>
              </a:rPr>
              <a:t>SMSky</a:t>
            </a:r>
            <a:r>
              <a:rPr lang="cs-CZ" sz="1600" dirty="0">
                <a:ea typeface="+mn-lt"/>
                <a:cs typeface="+mn-lt"/>
              </a:rPr>
              <a:t>, fotky, </a:t>
            </a:r>
            <a:r>
              <a:rPr lang="cs-CZ" sz="1600" dirty="0" err="1">
                <a:ea typeface="+mn-lt"/>
                <a:cs typeface="+mn-lt"/>
              </a:rPr>
              <a:t>souboty</a:t>
            </a:r>
            <a:r>
              <a:rPr lang="cs-CZ" sz="1600" dirty="0">
                <a:ea typeface="+mn-lt"/>
                <a:cs typeface="+mn-lt"/>
              </a:rPr>
              <a:t>, Chaty (i šifrovaný </a:t>
            </a:r>
            <a:r>
              <a:rPr lang="cs-CZ" sz="1600" dirty="0" err="1">
                <a:ea typeface="+mn-lt"/>
                <a:cs typeface="+mn-lt"/>
              </a:rPr>
              <a:t>Signal</a:t>
            </a:r>
            <a:r>
              <a:rPr lang="cs-CZ" sz="1600" dirty="0">
                <a:ea typeface="+mn-lt"/>
                <a:cs typeface="+mn-lt"/>
              </a:rPr>
              <a:t>, </a:t>
            </a:r>
            <a:r>
              <a:rPr lang="cs-CZ" sz="1600" dirty="0" err="1">
                <a:ea typeface="+mn-lt"/>
                <a:cs typeface="+mn-lt"/>
              </a:rPr>
              <a:t>Whatsapp</a:t>
            </a:r>
            <a:r>
              <a:rPr lang="cs-CZ" sz="1600" dirty="0">
                <a:ea typeface="+mn-lt"/>
                <a:cs typeface="+mn-lt"/>
              </a:rPr>
              <a:t>…), Poloha, Kalendář, Kontakty, Mikrofon, Kamera</a:t>
            </a:r>
            <a:endParaRPr lang="cs-CZ" dirty="0"/>
          </a:p>
          <a:p>
            <a:r>
              <a:rPr lang="cs-CZ" sz="2000" dirty="0">
                <a:ea typeface="+mn-lt"/>
                <a:cs typeface="+mn-lt"/>
              </a:rPr>
              <a:t>často součástí šířených programů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>
                <a:ea typeface="+mn-lt"/>
                <a:cs typeface="+mn-lt"/>
              </a:rPr>
              <a:t>např. jako doplněk, o kterém ví autor, ale ne uživatel</a:t>
            </a:r>
            <a:endParaRPr lang="cs-CZ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AEE0174D-B367-FCCD-00B7-313A61EE641B}"/>
              </a:ext>
            </a:extLst>
          </p:cNvPr>
          <p:cNvSpPr txBox="1"/>
          <p:nvPr/>
        </p:nvSpPr>
        <p:spPr>
          <a:xfrm>
            <a:off x="692150" y="1612900"/>
            <a:ext cx="448945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/>
              <a:t>6. Spyware</a:t>
            </a:r>
            <a:endParaRPr lang="cs-CZ" dirty="0"/>
          </a:p>
        </p:txBody>
      </p:sp>
      <p:pic>
        <p:nvPicPr>
          <p:cNvPr id="2" name="Obrázek 1" descr="Obsah obrázku Počítačová klávesnice, počítač, text, Vstupní zařízení&#10;&#10;Obsah generovaný pomocí AI může být nesprávný.">
            <a:extLst>
              <a:ext uri="{FF2B5EF4-FFF2-40B4-BE49-F238E27FC236}">
                <a16:creationId xmlns:a16="http://schemas.microsoft.com/office/drawing/2014/main" id="{4585C48B-5F8C-7E7D-251B-62138BCDB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5" y="1457854"/>
            <a:ext cx="3153834" cy="1762125"/>
          </a:xfrm>
          <a:prstGeom prst="rect">
            <a:avLst/>
          </a:prstGeom>
        </p:spPr>
      </p:pic>
      <p:pic>
        <p:nvPicPr>
          <p:cNvPr id="7" name="Obrázek 6" descr="Obsah obrázku snímek obrazovky, text, Elektronické zařízení, přístroj&#10;&#10;Obsah generovaný pomocí AI může být nesprávný.">
            <a:extLst>
              <a:ext uri="{FF2B5EF4-FFF2-40B4-BE49-F238E27FC236}">
                <a16:creationId xmlns:a16="http://schemas.microsoft.com/office/drawing/2014/main" id="{73E891B0-19BD-CA2C-BE1D-EDAAEEAA5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125" y="3640667"/>
            <a:ext cx="3841750" cy="256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299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C913-B1A3-4001-D1E4-FAEB1E013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4CC3F6A-AAC8-AED4-C6F3-92E2FCC25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A3F13-4393-4BF3-5E1E-4E8D3E9EF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33" y="2502959"/>
            <a:ext cx="70231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>
                <a:ea typeface="+mn-lt"/>
                <a:cs typeface="+mn-lt"/>
              </a:rPr>
              <a:t>KEYLOGGER</a:t>
            </a:r>
            <a:endParaRPr lang="cs-CZ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err="1"/>
              <a:t>Keystroke</a:t>
            </a:r>
            <a:r>
              <a:rPr lang="cs-CZ" sz="1600" dirty="0"/>
              <a:t> </a:t>
            </a:r>
            <a:r>
              <a:rPr lang="cs-CZ" sz="1600" err="1"/>
              <a:t>logger</a:t>
            </a:r>
            <a:endParaRPr lang="cs-CZ" sz="1600" dirty="0" err="1"/>
          </a:p>
          <a:p>
            <a:pPr lvl="1">
              <a:buFont typeface="Courier New" panose="020B0604020202020204" pitchFamily="34" charset="0"/>
              <a:buChar char="o"/>
            </a:pPr>
            <a:endParaRPr lang="cs-CZ" sz="1600" dirty="0"/>
          </a:p>
          <a:p>
            <a:pPr lvl="1">
              <a:buFont typeface="Courier New" panose="020B0604020202020204" pitchFamily="34" charset="0"/>
              <a:buChar char="o"/>
            </a:pPr>
            <a:endParaRPr lang="cs-CZ" sz="1600" dirty="0"/>
          </a:p>
          <a:p>
            <a:r>
              <a:rPr lang="cs-CZ" sz="2000" dirty="0"/>
              <a:t>A) SW-</a:t>
            </a:r>
            <a:r>
              <a:rPr lang="cs-CZ" sz="2000" dirty="0" err="1"/>
              <a:t>based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1600" dirty="0" err="1"/>
              <a:t>Spyrix</a:t>
            </a:r>
            <a:r>
              <a:rPr lang="cs-CZ" sz="1600" dirty="0"/>
              <a:t>, </a:t>
            </a:r>
            <a:r>
              <a:rPr lang="cs-CZ" sz="1600" dirty="0" err="1"/>
              <a:t>Refog</a:t>
            </a:r>
          </a:p>
          <a:p>
            <a:r>
              <a:rPr lang="cs-CZ" sz="2000" dirty="0"/>
              <a:t>B) HW-</a:t>
            </a:r>
            <a:r>
              <a:rPr lang="cs-CZ" sz="2000" dirty="0" err="1"/>
              <a:t>based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93908A7E-9B3C-1741-FC24-AC7720127180}"/>
              </a:ext>
            </a:extLst>
          </p:cNvPr>
          <p:cNvSpPr txBox="1"/>
          <p:nvPr/>
        </p:nvSpPr>
        <p:spPr>
          <a:xfrm>
            <a:off x="692150" y="1612900"/>
            <a:ext cx="514561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/>
              <a:t>6. Spyware</a:t>
            </a:r>
          </a:p>
        </p:txBody>
      </p:sp>
      <p:pic>
        <p:nvPicPr>
          <p:cNvPr id="10" name="Obrázek 9" descr="Obsah obrázku text, software, Multimediální software, Grafický software&#10;&#10;Obsah generovaný pomocí AI může být nesprávný.">
            <a:extLst>
              <a:ext uri="{FF2B5EF4-FFF2-40B4-BE49-F238E27FC236}">
                <a16:creationId xmlns:a16="http://schemas.microsoft.com/office/drawing/2014/main" id="{3DA78F78-71F3-01F4-0418-6D41248E7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583" y="4436012"/>
            <a:ext cx="8138583" cy="2071145"/>
          </a:xfrm>
          <a:prstGeom prst="rect">
            <a:avLst/>
          </a:prstGeom>
        </p:spPr>
      </p:pic>
      <p:pic>
        <p:nvPicPr>
          <p:cNvPr id="11" name="Obrázek 10" descr="What is a Keylogger? | How to Protect Your Passwords | AVG">
            <a:extLst>
              <a:ext uri="{FF2B5EF4-FFF2-40B4-BE49-F238E27FC236}">
                <a16:creationId xmlns:a16="http://schemas.microsoft.com/office/drawing/2014/main" id="{FCB2A78E-7BE7-D372-6D1B-93F49D7A1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42" y="1520296"/>
            <a:ext cx="3371850" cy="2314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89568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744FA-2402-F47C-F0D1-2F633A099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B3161DA5-222E-380F-34A7-C69E0297D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D1334-78AF-B3BC-7D7B-E4408ED22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33" y="2502959"/>
            <a:ext cx="70231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b="1" dirty="0"/>
              <a:t>PEGASUS</a:t>
            </a:r>
          </a:p>
          <a:p>
            <a:pPr lvl="1"/>
            <a:r>
              <a:rPr lang="cs-CZ" sz="1800" dirty="0">
                <a:latin typeface="Calibri"/>
                <a:ea typeface="Calibri"/>
                <a:cs typeface="Calibri"/>
              </a:rPr>
              <a:t>2021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lvl="1"/>
            <a:r>
              <a:rPr lang="cs-CZ" sz="1800" dirty="0">
                <a:latin typeface="Calibri"/>
                <a:ea typeface="Calibri"/>
                <a:cs typeface="Calibri"/>
              </a:rPr>
              <a:t>cílí na mobilní telefony</a:t>
            </a:r>
          </a:p>
          <a:p>
            <a:pPr lvl="1"/>
            <a:r>
              <a:rPr lang="cs-CZ" sz="1800" dirty="0">
                <a:latin typeface="Calibri"/>
                <a:ea typeface="Calibri"/>
                <a:cs typeface="Calibri"/>
              </a:rPr>
              <a:t>Název podle mytického okřídleného koně Pegase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lvl="1"/>
            <a:endParaRPr lang="cs-CZ" sz="1800" dirty="0">
              <a:latin typeface="Calibri"/>
              <a:ea typeface="Calibri"/>
              <a:cs typeface="Calibri"/>
            </a:endParaRPr>
          </a:p>
          <a:p>
            <a:pPr lvl="1"/>
            <a:endParaRPr lang="cs-CZ" sz="1800" dirty="0">
              <a:latin typeface="Calibri"/>
              <a:ea typeface="Calibri"/>
              <a:cs typeface="Calibri"/>
            </a:endParaRPr>
          </a:p>
          <a:p>
            <a:pPr lvl="1"/>
            <a:r>
              <a:rPr lang="cs-CZ" sz="1800" dirty="0">
                <a:latin typeface="Calibri"/>
                <a:ea typeface="Calibri"/>
                <a:cs typeface="Calibri"/>
              </a:rPr>
              <a:t>Autor: NSO Group (IZ)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lvl="2"/>
            <a:r>
              <a:rPr lang="cs-CZ" sz="1400" dirty="0">
                <a:latin typeface="Calibri"/>
                <a:ea typeface="Calibri"/>
                <a:cs typeface="Calibri"/>
              </a:rPr>
              <a:t>Stáli např. za </a:t>
            </a:r>
            <a:r>
              <a:rPr lang="cs-CZ" sz="1400" err="1">
                <a:latin typeface="Calibri"/>
                <a:ea typeface="Calibri"/>
                <a:cs typeface="Calibri"/>
              </a:rPr>
              <a:t>hacknutím</a:t>
            </a:r>
            <a:r>
              <a:rPr lang="cs-CZ" sz="1400" dirty="0">
                <a:latin typeface="Calibri"/>
                <a:ea typeface="Calibri"/>
                <a:cs typeface="Calibri"/>
              </a:rPr>
              <a:t> WhatsAppu v roce 2019, kdy byli sledováni vysocí vládní představitelé USA a dalších 20 zemí </a:t>
            </a:r>
            <a:endParaRPr lang="cs-CZ" sz="1400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5D43559-B86B-5675-5E85-ACFAD3F7C1B4}"/>
              </a:ext>
            </a:extLst>
          </p:cNvPr>
          <p:cNvSpPr txBox="1"/>
          <p:nvPr/>
        </p:nvSpPr>
        <p:spPr>
          <a:xfrm>
            <a:off x="692150" y="1612900"/>
            <a:ext cx="548428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/>
              <a:t>6. Spyware - </a:t>
            </a:r>
            <a:r>
              <a:rPr lang="en-US" sz="4800" dirty="0" err="1"/>
              <a:t>Příklad</a:t>
            </a:r>
            <a:endParaRPr lang="cs-CZ" dirty="0" err="1"/>
          </a:p>
        </p:txBody>
      </p:sp>
      <p:pic>
        <p:nvPicPr>
          <p:cNvPr id="2" name="Obrázek 1" descr="NSO Group - Wikipedia">
            <a:extLst>
              <a:ext uri="{FF2B5EF4-FFF2-40B4-BE49-F238E27FC236}">
                <a16:creationId xmlns:a16="http://schemas.microsoft.com/office/drawing/2014/main" id="{51B187FA-FAC6-F435-4E75-DE5CE3856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108" y="5176838"/>
            <a:ext cx="2499784" cy="1668992"/>
          </a:xfrm>
          <a:prstGeom prst="rect">
            <a:avLst/>
          </a:prstGeom>
        </p:spPr>
      </p:pic>
      <p:pic>
        <p:nvPicPr>
          <p:cNvPr id="5" name="Obrázek 4" descr="Obsah obrázku text, kreslené, Mobilní telefon, snímek obrazovky&#10;&#10;Obsah generovaný pomocí AI může být nesprávný.">
            <a:extLst>
              <a:ext uri="{FF2B5EF4-FFF2-40B4-BE49-F238E27FC236}">
                <a16:creationId xmlns:a16="http://schemas.microsoft.com/office/drawing/2014/main" id="{58573C20-7FC4-85A9-C4C2-2CB0018B5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338" y="1849438"/>
            <a:ext cx="3415241" cy="33284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10029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F8D2-CB5B-38D9-D990-5C31F63E6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F19D6BE3-2A1E-FC83-9B7C-959CA5014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9" name="Obrázek 8" descr="Pegasus: Spyware sold to governments 'targets activists' - BBC News">
            <a:extLst>
              <a:ext uri="{FF2B5EF4-FFF2-40B4-BE49-F238E27FC236}">
                <a16:creationId xmlns:a16="http://schemas.microsoft.com/office/drawing/2014/main" id="{B2BED1C4-500D-1441-E23E-7B2470984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342" y="1508126"/>
            <a:ext cx="9095316" cy="5122333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756890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39ABD-C508-96E9-4E7F-993B3C47F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D26E2911-DF4D-ECF1-804D-75C92848B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3" name="Obrázek 2" descr="Obsah obrázku text, snímek obrazovky, logo, Písmo&#10;&#10;Obsah generovaný pomocí AI může být nesprávný.">
            <a:extLst>
              <a:ext uri="{FF2B5EF4-FFF2-40B4-BE49-F238E27FC236}">
                <a16:creationId xmlns:a16="http://schemas.microsoft.com/office/drawing/2014/main" id="{017EBB15-2272-85EB-8118-0D64CE61E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04" y="1263121"/>
            <a:ext cx="9693274" cy="5305425"/>
          </a:xfrm>
          <a:prstGeom prst="rect">
            <a:avLst/>
          </a:prstGeom>
        </p:spPr>
      </p:pic>
      <p:sp>
        <p:nvSpPr>
          <p:cNvPr id="2" name="TextovéPole 6">
            <a:extLst>
              <a:ext uri="{FF2B5EF4-FFF2-40B4-BE49-F238E27FC236}">
                <a16:creationId xmlns:a16="http://schemas.microsoft.com/office/drawing/2014/main" id="{587D572E-72A7-30E1-1E28-61BC13DA2A66}"/>
              </a:ext>
            </a:extLst>
          </p:cNvPr>
          <p:cNvSpPr txBox="1"/>
          <p:nvPr/>
        </p:nvSpPr>
        <p:spPr>
          <a:xfrm>
            <a:off x="10135544" y="6069750"/>
            <a:ext cx="18842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>
                <a:hlinkClick r:id="rId4"/>
              </a:rPr>
              <a:t>VIDEO - Borat-RAT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0047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7645D-2322-87DC-2262-A4774367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F292A2D1-CE8E-CC2F-BFD4-F6ECD0BCE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Obrázek 3" descr="Obsah obrázku text, snímek obrazovky, menu, Písmo&#10;&#10;Obsah generovaný pomocí AI může být nesprávný.">
            <a:extLst>
              <a:ext uri="{FF2B5EF4-FFF2-40B4-BE49-F238E27FC236}">
                <a16:creationId xmlns:a16="http://schemas.microsoft.com/office/drawing/2014/main" id="{CDB3B12A-6606-8DB5-5D86-ED903ADC8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1582208"/>
            <a:ext cx="5721350" cy="3282950"/>
          </a:xfrm>
          <a:prstGeom prst="rect">
            <a:avLst/>
          </a:prstGeom>
        </p:spPr>
      </p:pic>
      <p:pic>
        <p:nvPicPr>
          <p:cNvPr id="5" name="Obrázek 4" descr="Obsah obrázku text, snímek obrazovky, design&#10;&#10;Obsah generovaný pomocí AI může být nesprávný.">
            <a:extLst>
              <a:ext uri="{FF2B5EF4-FFF2-40B4-BE49-F238E27FC236}">
                <a16:creationId xmlns:a16="http://schemas.microsoft.com/office/drawing/2014/main" id="{0F95D3AA-00B6-35A1-9500-AF505F5B1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8917" y="3227916"/>
            <a:ext cx="5710766" cy="340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397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09888-4541-800A-4AD2-8F77694B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71E8085D-9EB1-8F47-2C04-F95A66FBC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10" name="Content Placeholder 9" descr="Hollywood vs Reality : r/pcmasterrace">
            <a:extLst>
              <a:ext uri="{FF2B5EF4-FFF2-40B4-BE49-F238E27FC236}">
                <a16:creationId xmlns:a16="http://schemas.microsoft.com/office/drawing/2014/main" id="{486D2357-33B4-D325-71BC-AEC4EF737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47176" y="1266288"/>
            <a:ext cx="5220090" cy="5593063"/>
          </a:xfrm>
        </p:spPr>
      </p:pic>
    </p:spTree>
    <p:extLst>
      <p:ext uri="{BB962C8B-B14F-4D97-AF65-F5344CB8AC3E}">
        <p14:creationId xmlns:p14="http://schemas.microsoft.com/office/powerpoint/2010/main" val="3850592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49E10-C956-1AEE-B4DD-FB4515A1E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0A98C828-9447-EBB6-FE96-3D2C59697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9C62E-FB74-8DBF-AFD4-8D07BA3CB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33" y="2788709"/>
            <a:ext cx="70231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Příloha e-mailů (makra souborů)</a:t>
            </a:r>
          </a:p>
          <a:p>
            <a:r>
              <a:rPr lang="cs-CZ" sz="2400" dirty="0" err="1"/>
              <a:t>Phishing</a:t>
            </a:r>
            <a:endParaRPr lang="cs-CZ" sz="2400" dirty="0"/>
          </a:p>
          <a:p>
            <a:r>
              <a:rPr lang="cs-CZ" sz="2400" err="1"/>
              <a:t>Torrenty</a:t>
            </a:r>
            <a:r>
              <a:rPr lang="cs-CZ" sz="2400" dirty="0"/>
              <a:t> (</a:t>
            </a:r>
            <a:r>
              <a:rPr lang="cs-CZ" sz="2400" err="1"/>
              <a:t>cracknuté</a:t>
            </a:r>
            <a:r>
              <a:rPr lang="cs-CZ" sz="2400" dirty="0"/>
              <a:t> hry)</a:t>
            </a:r>
          </a:p>
          <a:p>
            <a:r>
              <a:rPr lang="cs-CZ" sz="2400" dirty="0"/>
              <a:t>HW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CD9CF7AF-2AAC-852B-3F18-902B272D26D3}"/>
              </a:ext>
            </a:extLst>
          </p:cNvPr>
          <p:cNvSpPr txBox="1"/>
          <p:nvPr/>
        </p:nvSpPr>
        <p:spPr>
          <a:xfrm>
            <a:off x="692150" y="1612900"/>
            <a:ext cx="59817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/>
              <a:t>Jak se malware </a:t>
            </a:r>
            <a:r>
              <a:rPr lang="en-US" sz="4800" dirty="0" err="1"/>
              <a:t>šíří</a:t>
            </a:r>
            <a:r>
              <a:rPr lang="en-US" sz="4800" dirty="0"/>
              <a:t> ?</a:t>
            </a:r>
            <a:endParaRPr lang="cs-CZ" dirty="0"/>
          </a:p>
        </p:txBody>
      </p:sp>
      <p:pic>
        <p:nvPicPr>
          <p:cNvPr id="2" name="Obrázek 1" descr="How to Download Torrents on iPhone in 2025 - EarthWeb">
            <a:extLst>
              <a:ext uri="{FF2B5EF4-FFF2-40B4-BE49-F238E27FC236}">
                <a16:creationId xmlns:a16="http://schemas.microsoft.com/office/drawing/2014/main" id="{44AFFC17-771B-04F2-DAEB-B16D495D9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169" y="1607909"/>
            <a:ext cx="3300483" cy="2204113"/>
          </a:xfrm>
          <a:prstGeom prst="rect">
            <a:avLst/>
          </a:prstGeom>
        </p:spPr>
      </p:pic>
      <p:pic>
        <p:nvPicPr>
          <p:cNvPr id="5" name="Obrázek 4" descr="What is Macro Virus? - zenarmor.com">
            <a:extLst>
              <a:ext uri="{FF2B5EF4-FFF2-40B4-BE49-F238E27FC236}">
                <a16:creationId xmlns:a16="http://schemas.microsoft.com/office/drawing/2014/main" id="{11C6878C-879A-71A9-B6E4-3322223C1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342" y="4157938"/>
            <a:ext cx="3981134" cy="22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54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ssembly – ProgrammerHumor.io">
            <a:extLst>
              <a:ext uri="{FF2B5EF4-FFF2-40B4-BE49-F238E27FC236}">
                <a16:creationId xmlns:a16="http://schemas.microsoft.com/office/drawing/2014/main" id="{3A3510BC-E080-D540-BBCB-01828BCD71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606" y="-547"/>
            <a:ext cx="6909193" cy="6860682"/>
          </a:xfrm>
        </p:spPr>
      </p:pic>
      <p:pic>
        <p:nvPicPr>
          <p:cNvPr id="5" name="Picture 4" descr="Viva assembly - Meme by deleted_4204296e40c :) Memedroid">
            <a:extLst>
              <a:ext uri="{FF2B5EF4-FFF2-40B4-BE49-F238E27FC236}">
                <a16:creationId xmlns:a16="http://schemas.microsoft.com/office/drawing/2014/main" id="{567AC6CD-CBC8-5156-8F6B-9FC8F1FBE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814" y="859105"/>
            <a:ext cx="5140872" cy="514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16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EAB35-1D7A-23CA-B6E1-2B1A8F93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4D794F53-0820-490F-3F7C-C33FE92A7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26EB2418-66D0-8CA4-13F0-864C33796676}"/>
              </a:ext>
            </a:extLst>
          </p:cNvPr>
          <p:cNvSpPr txBox="1"/>
          <p:nvPr/>
        </p:nvSpPr>
        <p:spPr>
          <a:xfrm>
            <a:off x="692150" y="1612900"/>
            <a:ext cx="59817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/>
              <a:t>Jak </a:t>
            </a:r>
            <a:r>
              <a:rPr lang="en-US" sz="4800" dirty="0" err="1"/>
              <a:t>vzniká</a:t>
            </a:r>
            <a:r>
              <a:rPr lang="en-US" sz="4800" dirty="0"/>
              <a:t> program ?</a:t>
            </a:r>
            <a:endParaRPr lang="cs-CZ" dirty="0"/>
          </a:p>
        </p:txBody>
      </p:sp>
      <p:pic>
        <p:nvPicPr>
          <p:cNvPr id="10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02A9C843-ABBC-7F76-49F1-3AA4E231A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253" y="2446800"/>
            <a:ext cx="7151395" cy="4412334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A12A06F-D410-4956-2DF2-01A2B9C5A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33" y="2788709"/>
            <a:ext cx="70231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cs-CZ" sz="2400" dirty="0">
                <a:ea typeface="+mn-lt"/>
                <a:cs typeface="+mn-lt"/>
              </a:rPr>
              <a:t>Napíšu nějaký program</a:t>
            </a:r>
            <a:endParaRPr lang="cs-CZ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Python / C# / …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(vysokoúrovňové jazyky)</a:t>
            </a:r>
          </a:p>
          <a:p>
            <a:pPr>
              <a:buAutoNum type="arabicPeriod"/>
            </a:pPr>
            <a:r>
              <a:rPr lang="cs-CZ" sz="2400" dirty="0"/>
              <a:t>    Kód se ZKOMPILUJE</a:t>
            </a:r>
          </a:p>
          <a:p>
            <a:pPr lvl="1">
              <a:buFont typeface="Courier New"/>
              <a:buChar char="o"/>
            </a:pPr>
            <a:r>
              <a:rPr lang="cs-CZ" sz="2000" dirty="0"/>
              <a:t>Přeloží se do Assembleru</a:t>
            </a:r>
          </a:p>
          <a:p>
            <a:pPr lvl="1">
              <a:buFont typeface="Courier New"/>
              <a:buChar char="o"/>
            </a:pPr>
            <a:r>
              <a:rPr lang="cs-CZ" sz="2000" dirty="0"/>
              <a:t>(</a:t>
            </a:r>
            <a:r>
              <a:rPr lang="cs-CZ" sz="2000" dirty="0" err="1"/>
              <a:t>nízkoúrovňový</a:t>
            </a:r>
            <a:r>
              <a:rPr lang="cs-CZ" sz="2000" dirty="0"/>
              <a:t> jazyk)</a:t>
            </a:r>
          </a:p>
          <a:p>
            <a:pPr>
              <a:buAutoNum type="arabicPeriod"/>
            </a:pPr>
            <a:r>
              <a:rPr lang="cs-CZ" sz="2400" dirty="0"/>
              <a:t>    Kód se ASSEMBLUJE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Přeloží se do STROJOVÉHO KÓDU (jen 0/1)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(spustitelný soubor, např. </a:t>
            </a:r>
            <a:r>
              <a:rPr lang="cs-CZ" sz="2000" dirty="0" err="1"/>
              <a:t>exe</a:t>
            </a:r>
            <a:r>
              <a:rPr lang="cs-CZ" sz="2000" dirty="0"/>
              <a:t> / </a:t>
            </a:r>
            <a:r>
              <a:rPr lang="cs-CZ" sz="2000" dirty="0" err="1"/>
              <a:t>bat</a:t>
            </a:r>
            <a:r>
              <a:rPr lang="cs-CZ" sz="2000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314938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10" name="Picture 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DC3594B-DD79-F68E-98FA-2F1797D99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2" y="1409246"/>
            <a:ext cx="11210925" cy="53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929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Assembly</a:t>
            </a:r>
            <a:r>
              <a:rPr lang="cs-CZ" dirty="0"/>
              <a:t> jazyk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 err="1">
                <a:ea typeface="+mn-lt"/>
                <a:cs typeface="+mn-lt"/>
              </a:rPr>
              <a:t>Nízkoúrovňový</a:t>
            </a:r>
            <a:r>
              <a:rPr lang="cs-CZ" sz="2400" dirty="0">
                <a:ea typeface="+mn-lt"/>
                <a:cs typeface="+mn-lt"/>
              </a:rPr>
              <a:t> (strojový) programovací jazyk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Různé jazyky assembleru</a:t>
            </a:r>
            <a:endParaRPr lang="cs-CZ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Specifické pro architekturu počítače</a:t>
            </a:r>
            <a:endParaRPr lang="cs-CZ" sz="1600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Např.: Intel, AT&amp;T</a:t>
            </a:r>
          </a:p>
          <a:p>
            <a:r>
              <a:rPr lang="cs-CZ" sz="2400" dirty="0">
                <a:ea typeface="+mn-lt"/>
                <a:cs typeface="+mn-lt"/>
              </a:rPr>
              <a:t>Rychlý přímý přístup k HW</a:t>
            </a:r>
            <a:endParaRPr lang="cs-CZ" dirty="0"/>
          </a:p>
          <a:p>
            <a:r>
              <a:rPr lang="cs-CZ" sz="2400" dirty="0">
                <a:ea typeface="+mn-lt"/>
                <a:cs typeface="+mn-lt"/>
              </a:rPr>
              <a:t>Používání mnemotechnik pro instrukce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INC EAX: zvýší hodnotu registru EAX o 1</a:t>
            </a:r>
            <a:endParaRPr lang="cs-CZ" dirty="0">
              <a:ea typeface="+mn-lt"/>
              <a:cs typeface="+mn-lt"/>
            </a:endParaRP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Picture 3" descr="Viva assembly - Meme by deleted_4204296e40c :) Memedroid">
            <a:extLst>
              <a:ext uri="{FF2B5EF4-FFF2-40B4-BE49-F238E27FC236}">
                <a16:creationId xmlns:a16="http://schemas.microsoft.com/office/drawing/2014/main" id="{DC5D6740-CF42-668B-D17B-424C5B9FD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319" y="1463401"/>
            <a:ext cx="3389587" cy="339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20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642B9-F662-1E98-CDC8-E97944FEB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A08FEC23-EF14-6906-75A3-53467EBCE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8F5EC4BB-7BF9-27F9-C87A-5E5A5D0E5F72}"/>
              </a:ext>
            </a:extLst>
          </p:cNvPr>
          <p:cNvSpPr txBox="1"/>
          <p:nvPr/>
        </p:nvSpPr>
        <p:spPr>
          <a:xfrm>
            <a:off x="692150" y="1612900"/>
            <a:ext cx="702342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/>
              <a:t>Jak se to </a:t>
            </a:r>
            <a:r>
              <a:rPr lang="en-US" sz="4800" dirty="0" err="1"/>
              <a:t>dělá</a:t>
            </a:r>
            <a:r>
              <a:rPr lang="en-US" sz="4800" dirty="0"/>
              <a:t> </a:t>
            </a:r>
            <a:r>
              <a:rPr lang="en-US" sz="4800" dirty="0" err="1"/>
              <a:t>opačně</a:t>
            </a:r>
            <a:r>
              <a:rPr lang="en-US" sz="4800" dirty="0"/>
              <a:t>  ?</a:t>
            </a:r>
            <a:endParaRPr lang="cs-CZ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33C77F6-3C5F-EEBE-AE3A-7E079C393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33" y="2788709"/>
            <a:ext cx="702310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cs-CZ" sz="2400" dirty="0">
                <a:ea typeface="+mn-lt"/>
                <a:cs typeface="+mn-lt"/>
              </a:rPr>
              <a:t>Mám spustitelný soubor</a:t>
            </a:r>
          </a:p>
          <a:p>
            <a:pPr marL="457200" indent="-457200">
              <a:buAutoNum type="arabicPeriod"/>
            </a:pPr>
            <a:endParaRPr lang="cs-CZ" sz="2400" dirty="0"/>
          </a:p>
          <a:p>
            <a:pPr marL="457200" indent="-457200">
              <a:buAutoNum type="arabicPeriod"/>
            </a:pPr>
            <a:r>
              <a:rPr lang="cs-CZ" sz="2400" dirty="0"/>
              <a:t>Udělám DISASSEMBLING</a:t>
            </a:r>
          </a:p>
          <a:p>
            <a:pPr marL="914400" lvl="1" indent="-457200">
              <a:buFont typeface="Courier New"/>
              <a:buChar char="o"/>
            </a:pPr>
            <a:r>
              <a:rPr lang="cs-CZ" sz="2000" dirty="0"/>
              <a:t>Přepíšu binární kód zpátky do assembleru</a:t>
            </a:r>
          </a:p>
          <a:p>
            <a:pPr marL="914400" lvl="1" indent="-457200">
              <a:buFont typeface="Courier New"/>
              <a:buChar char="o"/>
            </a:pPr>
            <a:r>
              <a:rPr lang="cs-CZ" sz="2000" dirty="0" err="1"/>
              <a:t>Tool</a:t>
            </a:r>
            <a:r>
              <a:rPr lang="cs-CZ" sz="2000" dirty="0"/>
              <a:t>: </a:t>
            </a:r>
            <a:r>
              <a:rPr lang="cs-CZ" sz="2000" dirty="0" err="1"/>
              <a:t>Ghidra</a:t>
            </a:r>
            <a:r>
              <a:rPr lang="cs-CZ" sz="2000" dirty="0"/>
              <a:t>, x64dbg (</a:t>
            </a:r>
            <a:r>
              <a:rPr lang="cs-CZ" sz="2000" dirty="0" err="1"/>
              <a:t>Zydis</a:t>
            </a:r>
            <a:r>
              <a:rPr lang="cs-CZ" sz="2000" dirty="0"/>
              <a:t>)</a:t>
            </a:r>
          </a:p>
          <a:p>
            <a:pPr marL="914400" lvl="1" indent="-457200">
              <a:buFont typeface="Courier New"/>
              <a:buChar char="o"/>
            </a:pPr>
            <a:endParaRPr lang="cs-CZ" sz="2000" dirty="0"/>
          </a:p>
          <a:p>
            <a:pPr marL="457200" indent="-457200">
              <a:buAutoNum type="arabicPeriod"/>
            </a:pPr>
            <a:r>
              <a:rPr lang="cs-CZ" sz="2400" dirty="0"/>
              <a:t>Udělám DEKOMPILACI</a:t>
            </a:r>
          </a:p>
          <a:p>
            <a:pPr marL="914400" lvl="1" indent="-457200">
              <a:buFont typeface="Courier New"/>
              <a:buChar char="o"/>
            </a:pPr>
            <a:r>
              <a:rPr lang="cs-CZ" sz="2000" dirty="0"/>
              <a:t>Assembler se čte špatně - vrátím ho do čitelného vyššího jazyka</a:t>
            </a:r>
          </a:p>
          <a:p>
            <a:pPr marL="914400" lvl="1" indent="-457200">
              <a:buFont typeface="Courier New"/>
              <a:buChar char="o"/>
            </a:pPr>
            <a:r>
              <a:rPr lang="cs-CZ" sz="2000" dirty="0" err="1"/>
              <a:t>Tools</a:t>
            </a:r>
            <a:r>
              <a:rPr lang="cs-CZ" sz="2000" dirty="0"/>
              <a:t>: </a:t>
            </a:r>
            <a:r>
              <a:rPr lang="cs-CZ" sz="2000" dirty="0" err="1"/>
              <a:t>Ghidra</a:t>
            </a:r>
            <a:r>
              <a:rPr lang="cs-CZ" sz="2000" dirty="0"/>
              <a:t>, IDA</a:t>
            </a:r>
          </a:p>
        </p:txBody>
      </p:sp>
    </p:spTree>
    <p:extLst>
      <p:ext uri="{BB962C8B-B14F-4D97-AF65-F5344CB8AC3E}">
        <p14:creationId xmlns:p14="http://schemas.microsoft.com/office/powerpoint/2010/main" val="4073399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0AD62-D3FB-138A-FFED-D87AAB167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0F39B4F-7A47-58B2-C886-A3759A571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9" name="Content Placeholder 8" descr="Obsah obrázku text, snímek obrazovky, displej, číslo&#10;&#10;Obsah generovaný pomocí AI může být nesprávný.">
            <a:extLst>
              <a:ext uri="{FF2B5EF4-FFF2-40B4-BE49-F238E27FC236}">
                <a16:creationId xmlns:a16="http://schemas.microsoft.com/office/drawing/2014/main" id="{DD5383CC-0CFB-2161-C8FC-768EB67EBE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3904" y="1370541"/>
            <a:ext cx="11484191" cy="5483755"/>
          </a:xfr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2259823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Co je </a:t>
            </a:r>
            <a:r>
              <a:rPr lang="cs-CZ" dirty="0" err="1"/>
              <a:t>exploit</a:t>
            </a:r>
            <a:r>
              <a:rPr lang="cs-CZ" dirty="0"/>
              <a:t>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0515600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solidFill>
                  <a:srgbClr val="000000"/>
                </a:solidFill>
              </a:rPr>
              <a:t>Z anglického slovesa "to </a:t>
            </a:r>
            <a:r>
              <a:rPr lang="cs-CZ" sz="2400" dirty="0" err="1">
                <a:solidFill>
                  <a:srgbClr val="000000"/>
                </a:solidFill>
              </a:rPr>
              <a:t>exploit</a:t>
            </a:r>
            <a:r>
              <a:rPr lang="cs-CZ" sz="2400" dirty="0">
                <a:solidFill>
                  <a:srgbClr val="000000"/>
                </a:solidFill>
              </a:rPr>
              <a:t>"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solidFill>
                  <a:srgbClr val="000000"/>
                </a:solidFill>
              </a:rPr>
              <a:t>využít něco pro svůj prospěch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cs-CZ" sz="2000" dirty="0">
              <a:solidFill>
                <a:srgbClr val="000000"/>
              </a:solidFill>
            </a:endParaRPr>
          </a:p>
          <a:p>
            <a:r>
              <a:rPr lang="cs-CZ" sz="2400" dirty="0">
                <a:solidFill>
                  <a:srgbClr val="000000"/>
                </a:solidFill>
              </a:rPr>
              <a:t>SW / spleť dat / sekvence příkazů, která </a:t>
            </a:r>
            <a:r>
              <a:rPr lang="cs-CZ" sz="2400" err="1">
                <a:solidFill>
                  <a:srgbClr val="000000"/>
                </a:solidFill>
              </a:rPr>
              <a:t>znežije</a:t>
            </a:r>
            <a:r>
              <a:rPr lang="cs-CZ" sz="2400" dirty="0">
                <a:solidFill>
                  <a:srgbClr val="000000"/>
                </a:solidFill>
              </a:rPr>
              <a:t> bug nebo </a:t>
            </a:r>
            <a:r>
              <a:rPr lang="cs-CZ" sz="2400" err="1">
                <a:solidFill>
                  <a:srgbClr val="000000"/>
                </a:solidFill>
              </a:rPr>
              <a:t>vuln</a:t>
            </a:r>
            <a:endParaRPr lang="cs-CZ" sz="2400">
              <a:solidFill>
                <a:srgbClr val="000000"/>
              </a:solidFill>
            </a:endParaRPr>
          </a:p>
          <a:p>
            <a:endParaRPr lang="cs-CZ" sz="2400" dirty="0">
              <a:solidFill>
                <a:srgbClr val="000000"/>
              </a:solidFill>
            </a:endParaRPr>
          </a:p>
          <a:p>
            <a:r>
              <a:rPr lang="cs-CZ" sz="2400" dirty="0">
                <a:solidFill>
                  <a:srgbClr val="000000"/>
                </a:solidFill>
              </a:rPr>
              <a:t>Používáme je k přístupu do sítě/zařízení, k </a:t>
            </a:r>
            <a:r>
              <a:rPr lang="cs-CZ" sz="2400" err="1">
                <a:solidFill>
                  <a:srgbClr val="000000"/>
                </a:solidFill>
              </a:rPr>
              <a:t>PrivEsc</a:t>
            </a:r>
            <a:r>
              <a:rPr lang="cs-CZ" sz="2400" dirty="0">
                <a:solidFill>
                  <a:srgbClr val="000000"/>
                </a:solidFill>
              </a:rPr>
              <a:t>, případně k </a:t>
            </a:r>
            <a:r>
              <a:rPr lang="cs-CZ" sz="2400" err="1">
                <a:solidFill>
                  <a:srgbClr val="000000"/>
                </a:solidFill>
              </a:rPr>
              <a:t>DDoS</a:t>
            </a:r>
            <a:endParaRPr lang="cs-CZ" sz="2400">
              <a:solidFill>
                <a:srgbClr val="000000"/>
              </a:solidFill>
            </a:endParaRP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Obrázek 3" descr="Obsah obrázku modrá, Elektricky modrá, snímek obrazovky, světlo&#10;&#10;Popis se vygeneroval automaticky.">
            <a:extLst>
              <a:ext uri="{FF2B5EF4-FFF2-40B4-BE49-F238E27FC236}">
                <a16:creationId xmlns:a16="http://schemas.microsoft.com/office/drawing/2014/main" id="{C772D847-0D37-308E-2B21-68C21BF2D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201" y="1383785"/>
            <a:ext cx="4070350" cy="20447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39306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Exploit</a:t>
            </a:r>
            <a:r>
              <a:rPr lang="cs-CZ" dirty="0"/>
              <a:t> - Typy útoku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0515600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b="1" err="1">
                <a:solidFill>
                  <a:srgbClr val="000000"/>
                </a:solidFill>
              </a:rPr>
              <a:t>Local</a:t>
            </a:r>
            <a:r>
              <a:rPr lang="cs-CZ" sz="2400" b="1" dirty="0">
                <a:solidFill>
                  <a:srgbClr val="000000"/>
                </a:solidFill>
              </a:rPr>
              <a:t> </a:t>
            </a:r>
            <a:r>
              <a:rPr lang="cs-CZ" sz="2400" b="1" err="1">
                <a:solidFill>
                  <a:srgbClr val="000000"/>
                </a:solidFill>
              </a:rPr>
              <a:t>Exploit</a:t>
            </a:r>
            <a:r>
              <a:rPr lang="cs-CZ" sz="2400" b="1" dirty="0">
                <a:solidFill>
                  <a:srgbClr val="000000"/>
                </a:solidFill>
              </a:rPr>
              <a:t> </a:t>
            </a:r>
            <a:endParaRPr lang="cs-CZ" b="1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/>
              <a:t>Běžící </a:t>
            </a:r>
            <a:r>
              <a:rPr lang="cs-CZ" dirty="0" err="1"/>
              <a:t>local</a:t>
            </a:r>
            <a:r>
              <a:rPr lang="cs-CZ" dirty="0"/>
              <a:t> </a:t>
            </a:r>
            <a:r>
              <a:rPr lang="cs-CZ" dirty="0" err="1"/>
              <a:t>exec</a:t>
            </a:r>
            <a:r>
              <a:rPr lang="cs-CZ" dirty="0"/>
              <a:t> </a:t>
            </a:r>
            <a:r>
              <a:rPr lang="cs-CZ" dirty="0" err="1"/>
              <a:t>file</a:t>
            </a:r>
            <a:r>
              <a:rPr lang="cs-CZ" dirty="0"/>
              <a:t> v systému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/>
              <a:t>Možný následek: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cs-CZ" dirty="0" err="1"/>
              <a:t>PrivEsc</a:t>
            </a:r>
            <a:r>
              <a:rPr lang="cs-CZ" dirty="0"/>
              <a:t> (user -&gt; admin)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cs-CZ" dirty="0" err="1"/>
              <a:t>RevShell</a:t>
            </a:r>
            <a:r>
              <a:rPr lang="cs-CZ" dirty="0"/>
              <a:t> (vzdálený přístup pro útočníka)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6" name="Obrázek 5" descr="Obsah obrázku text, snímek obrazovky, Písmo, Grafika&#10;&#10;Popis se vygeneroval automaticky.">
            <a:extLst>
              <a:ext uri="{FF2B5EF4-FFF2-40B4-BE49-F238E27FC236}">
                <a16:creationId xmlns:a16="http://schemas.microsoft.com/office/drawing/2014/main" id="{05181AD1-7ED5-8619-A006-8076C4091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335" y="2682831"/>
            <a:ext cx="2572007" cy="1698281"/>
          </a:xfrm>
          <a:prstGeom prst="rect">
            <a:avLst/>
          </a:prstGeom>
        </p:spPr>
      </p:pic>
      <p:pic>
        <p:nvPicPr>
          <p:cNvPr id="7" name="Obrázek 6" descr="Obsah obrázku text, snímek obrazovky, Písmo, Grafika&#10;&#10;Popis se vygeneroval automaticky.">
            <a:extLst>
              <a:ext uri="{FF2B5EF4-FFF2-40B4-BE49-F238E27FC236}">
                <a16:creationId xmlns:a16="http://schemas.microsoft.com/office/drawing/2014/main" id="{40C1A6C9-6FFB-C598-DC70-7B63228CF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944" y="5370813"/>
            <a:ext cx="614362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75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Exploit</a:t>
            </a:r>
            <a:r>
              <a:rPr lang="cs-CZ" dirty="0"/>
              <a:t> - Typy útoku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0515600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b="1" dirty="0" err="1">
                <a:solidFill>
                  <a:srgbClr val="000000"/>
                </a:solidFill>
              </a:rPr>
              <a:t>Remote</a:t>
            </a:r>
            <a:r>
              <a:rPr lang="cs-CZ" sz="2400" b="1" dirty="0">
                <a:solidFill>
                  <a:srgbClr val="000000"/>
                </a:solidFill>
              </a:rPr>
              <a:t> </a:t>
            </a:r>
            <a:r>
              <a:rPr lang="cs-CZ" sz="2400" b="1" dirty="0" err="1">
                <a:solidFill>
                  <a:srgbClr val="000000"/>
                </a:solidFill>
              </a:rPr>
              <a:t>Exploit</a:t>
            </a:r>
            <a:r>
              <a:rPr lang="cs-CZ" sz="2400" b="1" dirty="0">
                <a:solidFill>
                  <a:srgbClr val="000000"/>
                </a:solidFill>
              </a:rPr>
              <a:t> </a:t>
            </a:r>
            <a:endParaRPr lang="cs-CZ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/>
              <a:t>Zaslání paketů webserveru k </a:t>
            </a:r>
            <a:r>
              <a:rPr lang="cs-CZ" dirty="0" err="1"/>
              <a:t>exploitaci</a:t>
            </a:r>
            <a:r>
              <a:rPr lang="cs-CZ" dirty="0"/>
              <a:t> </a:t>
            </a:r>
            <a:r>
              <a:rPr lang="cs-CZ" dirty="0" err="1"/>
              <a:t>vuln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/>
              <a:t>Možný následek: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cs-CZ" dirty="0"/>
              <a:t>Server spustí příkaz, který by neměl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Obrázek 3" descr="Obsah obrázku text, snímek obrazovky, Písmo, Obdélník&#10;&#10;Popis se vygeneroval automaticky.">
            <a:extLst>
              <a:ext uri="{FF2B5EF4-FFF2-40B4-BE49-F238E27FC236}">
                <a16:creationId xmlns:a16="http://schemas.microsoft.com/office/drawing/2014/main" id="{796FA648-0C86-7167-1E4E-AB48DAEAE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628" y="4947336"/>
            <a:ext cx="621982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374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EB66A-B87C-5CD7-A734-868DB59FD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48FB1A-25C5-9178-4B6B-DE750993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Analýza malware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D56DA5-D5F7-47E3-5ECE-967862971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0515600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b="1" dirty="0"/>
              <a:t>A) STATICKÁ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Zkoumám BEZ SPUŠTĚNÍ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Vždy se dělá na začátku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 err="1"/>
              <a:t>Tools</a:t>
            </a:r>
            <a:r>
              <a:rPr lang="cs-CZ" sz="2000" dirty="0"/>
              <a:t>: </a:t>
            </a:r>
            <a:r>
              <a:rPr lang="cs-CZ" sz="2000" dirty="0" err="1"/>
              <a:t>VirusTotal</a:t>
            </a:r>
            <a:r>
              <a:rPr lang="cs-CZ" sz="2000" dirty="0"/>
              <a:t>, </a:t>
            </a:r>
            <a:r>
              <a:rPr lang="cs-CZ" sz="2000" dirty="0" err="1"/>
              <a:t>Detect</a:t>
            </a:r>
            <a:r>
              <a:rPr lang="cs-CZ" sz="2000" dirty="0"/>
              <a:t> It </a:t>
            </a:r>
            <a:r>
              <a:rPr lang="cs-CZ" sz="2000" dirty="0" err="1"/>
              <a:t>Easy</a:t>
            </a:r>
            <a:r>
              <a:rPr lang="cs-CZ" sz="2000" dirty="0"/>
              <a:t>, </a:t>
            </a:r>
            <a:r>
              <a:rPr lang="cs-CZ" sz="2000" dirty="0" err="1"/>
              <a:t>PEStudio</a:t>
            </a:r>
            <a:r>
              <a:rPr lang="cs-CZ" sz="2000" dirty="0"/>
              <a:t>...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cs-CZ" sz="2000" dirty="0"/>
          </a:p>
          <a:p>
            <a:r>
              <a:rPr lang="cs-CZ" sz="2400" b="1" dirty="0"/>
              <a:t>B) DYNAMICKÁ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Zkoumám SE SPUŠTĚNÍM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Nemusí se vždy dělat, pokud statická stačila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 err="1"/>
              <a:t>Tools</a:t>
            </a:r>
            <a:r>
              <a:rPr lang="cs-CZ" sz="2000" dirty="0"/>
              <a:t>: ANY.RUN, </a:t>
            </a:r>
            <a:r>
              <a:rPr lang="cs-CZ" sz="2000" dirty="0" err="1"/>
              <a:t>Cuckoo</a:t>
            </a:r>
            <a:r>
              <a:rPr lang="cs-CZ" sz="2000" dirty="0"/>
              <a:t> </a:t>
            </a:r>
            <a:r>
              <a:rPr lang="cs-CZ" sz="2000" dirty="0" err="1"/>
              <a:t>Sandbox</a:t>
            </a:r>
            <a:r>
              <a:rPr lang="cs-CZ" sz="2000" dirty="0"/>
              <a:t>, </a:t>
            </a:r>
            <a:r>
              <a:rPr lang="cs-CZ" sz="2000" dirty="0" err="1"/>
              <a:t>Procmon</a:t>
            </a:r>
            <a:r>
              <a:rPr lang="cs-CZ" sz="2000" dirty="0"/>
              <a:t>, </a:t>
            </a:r>
            <a:r>
              <a:rPr lang="cs-CZ" sz="2000" dirty="0" err="1"/>
              <a:t>Process</a:t>
            </a:r>
            <a:r>
              <a:rPr lang="cs-CZ" sz="2000" dirty="0"/>
              <a:t> Hacker, </a:t>
            </a:r>
            <a:r>
              <a:rPr lang="cs-CZ" sz="2000" dirty="0" err="1"/>
              <a:t>Wireshark</a:t>
            </a:r>
            <a:r>
              <a:rPr lang="cs-CZ" sz="2000" dirty="0"/>
              <a:t>, x64dbg... 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655E3034-594F-3ECC-381B-83139BA82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6" name="Obrázek 5" descr="Malware Analysis and It’s Types – Codelivly">
            <a:extLst>
              <a:ext uri="{FF2B5EF4-FFF2-40B4-BE49-F238E27FC236}">
                <a16:creationId xmlns:a16="http://schemas.microsoft.com/office/drawing/2014/main" id="{18A19DB2-0E2C-A79A-6520-01BA215B9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566" y="1928707"/>
            <a:ext cx="5399616" cy="32863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866891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C70F-2C74-FDFE-6E41-62BE6D729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E81C8E-B511-A76F-8F1D-E1D00EC18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Statická analýza - </a:t>
            </a:r>
            <a:r>
              <a:rPr lang="cs-CZ" dirty="0" err="1"/>
              <a:t>Fingerprinting</a:t>
            </a:r>
            <a:r>
              <a:rPr lang="cs-CZ" dirty="0"/>
              <a:t> souboru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59A652C-9E7E-2E62-D633-C654D2994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0515600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b="1" dirty="0"/>
              <a:t>Proč se to dělá?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err="1"/>
              <a:t>Identifinace</a:t>
            </a:r>
            <a:r>
              <a:rPr lang="cs-CZ" sz="2000" dirty="0"/>
              <a:t> souboru &amp; zda s ním bylo manipulováno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Porovnání s databázemi známých malware</a:t>
            </a:r>
          </a:p>
          <a:p>
            <a:r>
              <a:rPr lang="cs-CZ" sz="2400" b="1" dirty="0"/>
              <a:t>HASH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/>
              <a:t>MD5 / SHA1 / SHA256 / SHA 512 / …</a:t>
            </a:r>
            <a:endParaRPr lang="cs-CZ" sz="2000" dirty="0"/>
          </a:p>
          <a:p>
            <a:r>
              <a:rPr lang="cs-CZ" sz="2400" b="1" dirty="0"/>
              <a:t>Jak </a:t>
            </a:r>
            <a:r>
              <a:rPr lang="cs-CZ" sz="2400" b="1" dirty="0" err="1"/>
              <a:t>fingerprint</a:t>
            </a:r>
            <a:r>
              <a:rPr lang="cs-CZ" sz="2400" b="1" dirty="0"/>
              <a:t> udělat?</a:t>
            </a:r>
          </a:p>
          <a:p>
            <a:pPr lvl="1"/>
            <a:r>
              <a:rPr lang="cs-CZ" sz="2000" b="1" dirty="0"/>
              <a:t>Windows: </a:t>
            </a:r>
            <a:r>
              <a:rPr lang="cs-CZ" sz="2000" dirty="0" err="1">
                <a:ea typeface="+mn-lt"/>
                <a:cs typeface="+mn-lt"/>
              </a:rPr>
              <a:t>Get-FileHash</a:t>
            </a:r>
            <a:r>
              <a:rPr lang="cs-CZ" sz="2000" dirty="0">
                <a:ea typeface="+mn-lt"/>
                <a:cs typeface="+mn-lt"/>
              </a:rPr>
              <a:t> -</a:t>
            </a:r>
            <a:r>
              <a:rPr lang="cs-CZ" sz="2000" dirty="0" err="1">
                <a:ea typeface="+mn-lt"/>
                <a:cs typeface="+mn-lt"/>
              </a:rPr>
              <a:t>Algorithm</a:t>
            </a:r>
            <a:r>
              <a:rPr lang="cs-CZ" sz="2000" dirty="0">
                <a:ea typeface="+mn-lt"/>
                <a:cs typeface="+mn-lt"/>
              </a:rPr>
              <a:t> SHA256 .\\soubor.exe</a:t>
            </a:r>
          </a:p>
          <a:p>
            <a:pPr lvl="1"/>
            <a:r>
              <a:rPr lang="cs-CZ" sz="2000" b="1" dirty="0"/>
              <a:t>Linux: </a:t>
            </a:r>
            <a:r>
              <a:rPr lang="cs-CZ" sz="2000" dirty="0">
                <a:ea typeface="+mn-lt"/>
                <a:cs typeface="+mn-lt"/>
              </a:rPr>
              <a:t>sha256sum soubor.exe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b="1" dirty="0"/>
              <a:t>Online </a:t>
            </a:r>
            <a:r>
              <a:rPr lang="cs-CZ" sz="2000" b="1" err="1"/>
              <a:t>tools</a:t>
            </a:r>
            <a:r>
              <a:rPr lang="cs-CZ" sz="2000" b="1" dirty="0"/>
              <a:t>: </a:t>
            </a:r>
            <a:r>
              <a:rPr lang="cs-CZ" sz="2000" dirty="0"/>
              <a:t>např. </a:t>
            </a:r>
            <a:r>
              <a:rPr lang="cs-CZ" sz="2000" err="1"/>
              <a:t>VirusTotal</a:t>
            </a:r>
            <a:r>
              <a:rPr lang="cs-CZ" sz="2000" dirty="0"/>
              <a:t>, </a:t>
            </a:r>
            <a:r>
              <a:rPr lang="cs-CZ" sz="2000" err="1"/>
              <a:t>HybridAnalysis</a:t>
            </a:r>
            <a:endParaRPr lang="cs-CZ" sz="200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1CC0839C-139E-37A0-EF74-EAA9991AB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Obrázek 3" descr="Digital Fingerprinting in Cybersecurity: OS, Nmap, &amp; More">
            <a:extLst>
              <a:ext uri="{FF2B5EF4-FFF2-40B4-BE49-F238E27FC236}">
                <a16:creationId xmlns:a16="http://schemas.microsoft.com/office/drawing/2014/main" id="{E74C7425-DE7E-4A77-EF7B-1B0C465D1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233" y="2424642"/>
            <a:ext cx="4097866" cy="228388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575750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23C1-CE7F-66A8-5EB3-343D96483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CCEF3F-A804-9CBC-9F43-000CE4F7E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Statická analýza - </a:t>
            </a:r>
            <a:r>
              <a:rPr lang="cs-CZ" dirty="0" err="1"/>
              <a:t>Strings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C37494-4E17-26D7-9533-316659592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0515600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b="1" dirty="0"/>
              <a:t>Proč se to dělá?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Výpis čitelných textových řetězců ze souboru</a:t>
            </a:r>
          </a:p>
          <a:p>
            <a:r>
              <a:rPr lang="cs-CZ" sz="2400" b="1" dirty="0"/>
              <a:t>Co hledáme?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názvy domén, IP adresy, URL, jméno autora, API funkce...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 err="1"/>
              <a:t>powershell</a:t>
            </a:r>
            <a:r>
              <a:rPr lang="cs-CZ" sz="2000" dirty="0"/>
              <a:t>, </a:t>
            </a:r>
            <a:r>
              <a:rPr lang="cs-CZ" sz="2000" dirty="0" err="1"/>
              <a:t>keylogger</a:t>
            </a:r>
            <a:r>
              <a:rPr lang="cs-CZ" sz="2000" dirty="0"/>
              <a:t>, base64, </a:t>
            </a:r>
            <a:r>
              <a:rPr lang="cs-CZ" sz="2000" dirty="0" err="1"/>
              <a:t>cmd</a:t>
            </a:r>
            <a:r>
              <a:rPr lang="cs-CZ" sz="2000" dirty="0"/>
              <a:t>, http...</a:t>
            </a:r>
          </a:p>
          <a:p>
            <a:r>
              <a:rPr lang="cs-CZ" sz="2400" b="1" dirty="0"/>
              <a:t>Jak  </a:t>
            </a:r>
            <a:r>
              <a:rPr lang="cs-CZ" sz="2400" b="1" dirty="0" err="1"/>
              <a:t>strings</a:t>
            </a:r>
            <a:r>
              <a:rPr lang="cs-CZ" sz="2400" b="1" dirty="0"/>
              <a:t> udělat?</a:t>
            </a:r>
          </a:p>
          <a:p>
            <a:pPr lvl="1"/>
            <a:r>
              <a:rPr lang="cs-CZ" sz="2000" b="1" dirty="0"/>
              <a:t>Linux: </a:t>
            </a:r>
            <a:r>
              <a:rPr lang="cs-CZ" sz="2000" err="1">
                <a:ea typeface="+mn-lt"/>
                <a:cs typeface="+mn-lt"/>
              </a:rPr>
              <a:t>strings</a:t>
            </a:r>
            <a:r>
              <a:rPr lang="cs-CZ" sz="2000" dirty="0">
                <a:ea typeface="+mn-lt"/>
                <a:cs typeface="+mn-lt"/>
              </a:rPr>
              <a:t> soubor.exe | grep http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b="1" dirty="0" err="1"/>
              <a:t>Tools</a:t>
            </a:r>
            <a:r>
              <a:rPr lang="cs-CZ" sz="2000" b="1" dirty="0"/>
              <a:t>: </a:t>
            </a:r>
            <a:r>
              <a:rPr lang="cs-CZ" sz="2000" dirty="0"/>
              <a:t>např. </a:t>
            </a:r>
            <a:r>
              <a:rPr lang="cs-CZ" sz="2000" dirty="0" err="1"/>
              <a:t>PEStudio</a:t>
            </a:r>
            <a:r>
              <a:rPr lang="cs-CZ" sz="2000" dirty="0"/>
              <a:t>, </a:t>
            </a:r>
            <a:r>
              <a:rPr lang="cs-CZ" sz="2000" dirty="0" err="1"/>
              <a:t>Ghidra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EA75A09F-9A21-0B4D-9851-C66568334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844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275F0-5BA1-1E8A-FDBF-56EE7393F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18BEEE-6866-55A5-DE90-8CB7D5598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Statická analýza - Hlavičky a typy souborů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A636AD-5662-7BD2-C040-1CA83B287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0515600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/>
              <a:t>Každý binární soubor má svou strukturu (</a:t>
            </a:r>
            <a:r>
              <a:rPr lang="cs-CZ" sz="2400" b="1" dirty="0" err="1"/>
              <a:t>header</a:t>
            </a:r>
            <a:r>
              <a:rPr lang="cs-CZ" sz="2400" dirty="0"/>
              <a:t>)</a:t>
            </a:r>
          </a:p>
          <a:p>
            <a:r>
              <a:rPr lang="cs-CZ" sz="2400" dirty="0"/>
              <a:t>Typ souboru tak můžeme identifikovat pomocí "</a:t>
            </a:r>
            <a:r>
              <a:rPr lang="cs-CZ" sz="2400" b="1" dirty="0" err="1"/>
              <a:t>magic</a:t>
            </a:r>
            <a:r>
              <a:rPr lang="cs-CZ" sz="2400" b="1" dirty="0"/>
              <a:t> </a:t>
            </a:r>
            <a:r>
              <a:rPr lang="cs-CZ" sz="2400" b="1" dirty="0" err="1"/>
              <a:t>bytes</a:t>
            </a:r>
            <a:r>
              <a:rPr lang="cs-CZ" sz="2400" dirty="0"/>
              <a:t>":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Windows PE: </a:t>
            </a:r>
            <a:r>
              <a:rPr lang="cs-CZ" sz="2000" b="1" dirty="0"/>
              <a:t>MZ </a:t>
            </a:r>
            <a:r>
              <a:rPr lang="cs-CZ" sz="2000" dirty="0"/>
              <a:t>(</a:t>
            </a:r>
            <a:r>
              <a:rPr lang="cs-CZ" sz="2000" dirty="0" err="1"/>
              <a:t>hex</a:t>
            </a:r>
            <a:r>
              <a:rPr lang="cs-CZ" sz="2000" dirty="0"/>
              <a:t>: 4D 5A)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Linux ELF: </a:t>
            </a:r>
            <a:r>
              <a:rPr lang="cs-CZ" sz="2000" b="1" dirty="0"/>
              <a:t>ELF </a:t>
            </a:r>
            <a:r>
              <a:rPr lang="cs-CZ" sz="2000" dirty="0"/>
              <a:t>(</a:t>
            </a:r>
            <a:r>
              <a:rPr lang="cs-CZ" sz="2000" dirty="0" err="1"/>
              <a:t>hex</a:t>
            </a:r>
            <a:r>
              <a:rPr lang="cs-CZ" sz="2000" dirty="0"/>
              <a:t>: 7F 45 4C 46)</a:t>
            </a:r>
          </a:p>
          <a:p>
            <a:r>
              <a:rPr lang="cs-CZ" sz="2400" dirty="0"/>
              <a:t>Přípona souboru není vždy ta reálná přípona :-)</a:t>
            </a:r>
          </a:p>
          <a:p>
            <a:r>
              <a:rPr lang="cs-CZ" sz="2400" b="1" dirty="0"/>
              <a:t>Nástroje pro detekci hlaviček: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Windows: </a:t>
            </a:r>
            <a:r>
              <a:rPr lang="cs-CZ" sz="2000" dirty="0" err="1"/>
              <a:t>Detect</a:t>
            </a:r>
            <a:r>
              <a:rPr lang="cs-CZ" sz="2000" dirty="0"/>
              <a:t> It </a:t>
            </a:r>
            <a:r>
              <a:rPr lang="cs-CZ" sz="2000" dirty="0" err="1"/>
              <a:t>Easy</a:t>
            </a:r>
            <a:r>
              <a:rPr lang="cs-CZ" sz="2000" dirty="0"/>
              <a:t>, CFF Explorer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Linux: </a:t>
            </a:r>
            <a:r>
              <a:rPr lang="cs-CZ" sz="2000" dirty="0" err="1"/>
              <a:t>file</a:t>
            </a:r>
            <a:r>
              <a:rPr lang="cs-CZ" sz="2000" dirty="0"/>
              <a:t> soubor.exe; </a:t>
            </a:r>
            <a:r>
              <a:rPr lang="cs-CZ" sz="2000" dirty="0" err="1"/>
              <a:t>hexdump</a:t>
            </a:r>
            <a:r>
              <a:rPr lang="cs-CZ" sz="2000" dirty="0"/>
              <a:t> –C soubor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691622CD-8D1E-474F-6AD0-ECD7D3012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446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7A642-364D-3B99-7387-BC7E2C821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AE7DC1-23E1-F93A-66F0-1428D27AA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Kde to mohu trénovat?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E92A19F-E11E-E955-34AB-D549E41B1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0515600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b="1" dirty="0"/>
              <a:t>CTF online soutěže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https://ctftime.org</a:t>
            </a:r>
            <a:endParaRPr lang="cs-CZ" sz="2000" b="1" dirty="0">
              <a:ea typeface="+mn-lt"/>
              <a:cs typeface="+mn-lt"/>
            </a:endParaRPr>
          </a:p>
          <a:p>
            <a:r>
              <a:rPr lang="cs-CZ" sz="2400" b="1" dirty="0"/>
              <a:t>Platformy: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err="1"/>
              <a:t>HackTheBox</a:t>
            </a:r>
            <a:endParaRPr lang="cs-CZ" sz="2000" dirty="0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err="1"/>
              <a:t>TryHackMe</a:t>
            </a:r>
            <a:endParaRPr lang="cs-CZ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Malware </a:t>
            </a:r>
            <a:r>
              <a:rPr lang="cs-CZ" sz="2000" err="1"/>
              <a:t>Unicorn</a:t>
            </a:r>
            <a:endParaRPr lang="cs-CZ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VX Underground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EA62284D-55D7-0534-A7EB-699DB9BE5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Obrázek 3" descr="Obsah obrázku text, snímek obrazovky, číslo, software&#10;&#10;Obsah generovaný pomocí AI může být nesprávný.">
            <a:extLst>
              <a:ext uri="{FF2B5EF4-FFF2-40B4-BE49-F238E27FC236}">
                <a16:creationId xmlns:a16="http://schemas.microsoft.com/office/drawing/2014/main" id="{C7EA772A-DC8E-612F-556D-DA9975BDF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075" y="2063750"/>
            <a:ext cx="5862682" cy="40851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420719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1CBE5-3DA7-C759-E6BC-8015A99FD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F60B93-6254-5870-4A2D-0A9ED1F6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TOP 3 knížky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39A6D2F-B4BF-0361-06BE-BA7498671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8" name="Zástupný obsah 7" descr="Practical Malware Analysis | No Starch Press">
            <a:extLst>
              <a:ext uri="{FF2B5EF4-FFF2-40B4-BE49-F238E27FC236}">
                <a16:creationId xmlns:a16="http://schemas.microsoft.com/office/drawing/2014/main" id="{B429CB13-120A-659C-4BE2-DFC843636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28821" y="2174875"/>
            <a:ext cx="3334356" cy="4404254"/>
          </a:xfrm>
        </p:spPr>
      </p:pic>
      <p:pic>
        <p:nvPicPr>
          <p:cNvPr id="9" name="Obrázek 8" descr="Buy Computer Security: A Hands-on Approach Book Online at Low Prices in ...">
            <a:extLst>
              <a:ext uri="{FF2B5EF4-FFF2-40B4-BE49-F238E27FC236}">
                <a16:creationId xmlns:a16="http://schemas.microsoft.com/office/drawing/2014/main" id="{2FC66701-6EB2-F429-3921-2E4BBB6B3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17" y="2595067"/>
            <a:ext cx="2859616" cy="3467034"/>
          </a:xfrm>
          <a:prstGeom prst="rect">
            <a:avLst/>
          </a:prstGeom>
        </p:spPr>
      </p:pic>
      <p:pic>
        <p:nvPicPr>
          <p:cNvPr id="10" name="Obrázek 9" descr="The Hacker Playbook 3: Practical Guide To Penetration Testing , Kim ...">
            <a:extLst>
              <a:ext uri="{FF2B5EF4-FFF2-40B4-BE49-F238E27FC236}">
                <a16:creationId xmlns:a16="http://schemas.microsoft.com/office/drawing/2014/main" id="{D738790F-55AF-77AB-6A7A-048C5AB5E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067" y="2324100"/>
            <a:ext cx="2575864" cy="411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052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413F-976F-8F7E-147A-88C7EA699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BF6E46-5353-039E-2C68-6119A0B09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Darknet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79B360E3-483F-B6A0-F19D-340F6A7A8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7" name="Obrázek 6" descr="Everything You Should Know About the Dark Web | Tulane School of  Professional Advancement">
            <a:extLst>
              <a:ext uri="{FF2B5EF4-FFF2-40B4-BE49-F238E27FC236}">
                <a16:creationId xmlns:a16="http://schemas.microsoft.com/office/drawing/2014/main" id="{0BE0B51B-B8F4-4EAB-1778-7B8E4772B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996" y="1545167"/>
            <a:ext cx="69246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658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CF80C1A2-2A47-ACF0-933E-CA9A97A6F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20" y="1271602"/>
            <a:ext cx="7886700" cy="1325563"/>
          </a:xfrm>
        </p:spPr>
        <p:txBody>
          <a:bodyPr/>
          <a:lstStyle/>
          <a:p>
            <a:r>
              <a:rPr lang="en-US" dirty="0"/>
              <a:t>$ </a:t>
            </a:r>
            <a:r>
              <a:rPr lang="en-US" dirty="0" err="1"/>
              <a:t>DarkNet</a:t>
            </a:r>
            <a:r>
              <a:rPr lang="en-US" dirty="0"/>
              <a:t> – </a:t>
            </a:r>
            <a:r>
              <a:rPr lang="en-US" dirty="0" err="1"/>
              <a:t>Přístup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6ADE85F-EC40-D493-C811-04301D653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FBCC-0C58-4A99-AF7C-627613AAA17C}" type="slidenum">
              <a:rPr lang="cs-CZ" smtClean="0"/>
              <a:t>36</a:t>
            </a:fld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9199815-F8B9-A5A9-F6CD-60C3C96F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313" y="1375560"/>
            <a:ext cx="5718939" cy="2950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Tor Project - Wikipedia, la enciclopedia libre">
            <a:extLst>
              <a:ext uri="{FF2B5EF4-FFF2-40B4-BE49-F238E27FC236}">
                <a16:creationId xmlns:a16="http://schemas.microsoft.com/office/drawing/2014/main" id="{AD4859DA-5845-B0B0-2BA0-9E5CCF046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560" y="2359408"/>
            <a:ext cx="2802961" cy="214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2P Network - To Encrypt The Connection - Hackers Online Club (HOC)">
            <a:extLst>
              <a:ext uri="{FF2B5EF4-FFF2-40B4-BE49-F238E27FC236}">
                <a16:creationId xmlns:a16="http://schemas.microsoft.com/office/drawing/2014/main" id="{3A27A136-A750-F30A-688D-B766B5A14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352" y="4910102"/>
            <a:ext cx="2251786" cy="124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9A971120-EC15-5C74-A95D-EE2D9520C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170" y="5005925"/>
            <a:ext cx="2686050" cy="1146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Freenet: Guia Rápido – Zilione">
            <a:extLst>
              <a:ext uri="{FF2B5EF4-FFF2-40B4-BE49-F238E27FC236}">
                <a16:creationId xmlns:a16="http://schemas.microsoft.com/office/drawing/2014/main" id="{7C8C8758-C038-DEE6-299C-5B5907002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052" y="5006557"/>
            <a:ext cx="2183908" cy="117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Obrázek 5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4B17C1D-0CFE-00FF-6365-D0FC06650E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963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12F19-1749-23D4-EC2E-8A3E5B983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C4A76FD3-99AB-6A15-07C0-C2B7AE860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20" y="1271602"/>
            <a:ext cx="7886700" cy="1325563"/>
          </a:xfrm>
        </p:spPr>
        <p:txBody>
          <a:bodyPr/>
          <a:lstStyle/>
          <a:p>
            <a:r>
              <a:rPr lang="en-US" dirty="0"/>
              <a:t>$ </a:t>
            </a:r>
            <a:r>
              <a:rPr lang="en-US" dirty="0" err="1"/>
              <a:t>DarkNet</a:t>
            </a:r>
            <a:r>
              <a:rPr lang="en-US" dirty="0"/>
              <a:t> – </a:t>
            </a:r>
            <a:r>
              <a:rPr lang="en-US" dirty="0">
                <a:latin typeface="Calibri Light"/>
                <a:ea typeface="Calibri Light"/>
                <a:cs typeface="Calibri Light"/>
              </a:rPr>
              <a:t>CICADA 3301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9DE68FA-D1F7-A854-6D0F-9F8004EEA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FBCC-0C58-4A99-AF7C-627613AAA17C}" type="slidenum">
              <a:rPr lang="cs-CZ" smtClean="0"/>
              <a:t>37</a:t>
            </a:fld>
            <a:endParaRPr lang="cs-CZ" dirty="0"/>
          </a:p>
        </p:txBody>
      </p:sp>
      <p:pic>
        <p:nvPicPr>
          <p:cNvPr id="6" name="Obrázek 5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0D4D0302-58C7-BED9-C5ED-04DE1794C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2" name="Obrázek 1" descr="Obsah obrázku Můry a motýli, hmyz, černá, motýl&#10;&#10;Obsah generovaný pomocí AI může být nesprávný.">
            <a:extLst>
              <a:ext uri="{FF2B5EF4-FFF2-40B4-BE49-F238E27FC236}">
                <a16:creationId xmlns:a16="http://schemas.microsoft.com/office/drawing/2014/main" id="{1BBAF587-900F-89B2-DA2A-8A0E6258C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288" y="1405996"/>
            <a:ext cx="3421591" cy="20245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8ACE6ABA-3FB3-47F7-AEA7-36E8A193A90D}"/>
              </a:ext>
            </a:extLst>
          </p:cNvPr>
          <p:cNvSpPr txBox="1"/>
          <p:nvPr/>
        </p:nvSpPr>
        <p:spPr>
          <a:xfrm>
            <a:off x="630488" y="2659093"/>
            <a:ext cx="7529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- </a:t>
            </a:r>
            <a:r>
              <a:rPr lang="en-US" dirty="0" err="1"/>
              <a:t>Skupina</a:t>
            </a:r>
            <a:r>
              <a:rPr lang="en-US" dirty="0"/>
              <a:t>, </a:t>
            </a:r>
            <a:r>
              <a:rPr lang="en-US" dirty="0" err="1"/>
              <a:t>která</a:t>
            </a:r>
            <a:r>
              <a:rPr lang="en-US" dirty="0"/>
              <a:t> se </a:t>
            </a:r>
            <a:r>
              <a:rPr lang="en-US" dirty="0" err="1"/>
              <a:t>objevila</a:t>
            </a:r>
            <a:r>
              <a:rPr lang="en-US" dirty="0"/>
              <a:t> </a:t>
            </a:r>
            <a:r>
              <a:rPr lang="en-US" dirty="0" err="1"/>
              <a:t>pouze</a:t>
            </a:r>
            <a:r>
              <a:rPr lang="en-US" dirty="0"/>
              <a:t> 4x</a:t>
            </a:r>
          </a:p>
          <a:p>
            <a:r>
              <a:rPr lang="en-US" dirty="0"/>
              <a:t>- </a:t>
            </a:r>
            <a:r>
              <a:rPr lang="en-US" dirty="0" err="1"/>
              <a:t>Cíl</a:t>
            </a:r>
            <a:r>
              <a:rPr lang="en-US" dirty="0"/>
              <a:t>: </a:t>
            </a:r>
            <a:r>
              <a:rPr lang="en-US" dirty="0" err="1"/>
              <a:t>najít</a:t>
            </a:r>
            <a:r>
              <a:rPr lang="en-US" dirty="0"/>
              <a:t> </a:t>
            </a:r>
            <a:r>
              <a:rPr lang="en-US" dirty="0" err="1"/>
              <a:t>vysoce</a:t>
            </a:r>
            <a:r>
              <a:rPr lang="en-US" dirty="0"/>
              <a:t> </a:t>
            </a:r>
            <a:r>
              <a:rPr lang="en-US" dirty="0" err="1"/>
              <a:t>inteligentní</a:t>
            </a:r>
            <a:r>
              <a:rPr lang="en-US" dirty="0"/>
              <a:t> </a:t>
            </a:r>
            <a:r>
              <a:rPr lang="en-US" dirty="0" err="1"/>
              <a:t>jedince</a:t>
            </a:r>
            <a:endParaRPr lang="en-US" dirty="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2DC5BD4-62D0-A809-312E-E5E454971D3B}"/>
              </a:ext>
            </a:extLst>
          </p:cNvPr>
          <p:cNvSpPr txBox="1"/>
          <p:nvPr/>
        </p:nvSpPr>
        <p:spPr>
          <a:xfrm>
            <a:off x="615231" y="4242020"/>
            <a:ext cx="8016536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Jedna</a:t>
            </a:r>
            <a:r>
              <a:rPr lang="en-US" b="1" dirty="0"/>
              <a:t> z </a:t>
            </a:r>
            <a:r>
              <a:rPr lang="en-US" b="1" dirty="0" err="1"/>
              <a:t>hádanek</a:t>
            </a:r>
            <a:r>
              <a:rPr lang="en-US" b="1" dirty="0"/>
              <a:t>:</a:t>
            </a:r>
          </a:p>
          <a:p>
            <a:r>
              <a:rPr lang="en-US" dirty="0" err="1"/>
              <a:t>obrázek</a:t>
            </a:r>
            <a:r>
              <a:rPr lang="en-US" dirty="0"/>
              <a:t> </a:t>
            </a:r>
            <a:r>
              <a:rPr lang="en-US" dirty="0" err="1"/>
              <a:t>oznamující</a:t>
            </a:r>
            <a:r>
              <a:rPr lang="en-US" dirty="0"/>
              <a:t> </a:t>
            </a:r>
            <a:r>
              <a:rPr lang="en-US" dirty="0" err="1"/>
              <a:t>zahájení</a:t>
            </a:r>
            <a:r>
              <a:rPr lang="en-US" dirty="0"/>
              <a:t> </a:t>
            </a:r>
            <a:r>
              <a:rPr lang="en-US" dirty="0" err="1"/>
              <a:t>projektu</a:t>
            </a:r>
            <a:r>
              <a:rPr lang="en-US" dirty="0"/>
              <a:t> -&gt; </a:t>
            </a:r>
            <a:r>
              <a:rPr lang="en-US" dirty="0" err="1"/>
              <a:t>zašifrovaný</a:t>
            </a:r>
            <a:r>
              <a:rPr lang="en-US" dirty="0"/>
              <a:t> </a:t>
            </a:r>
            <a:r>
              <a:rPr lang="en-US" dirty="0" err="1"/>
              <a:t>řetězec</a:t>
            </a:r>
            <a:r>
              <a:rPr lang="en-US" dirty="0"/>
              <a:t> -&gt; </a:t>
            </a:r>
            <a:r>
              <a:rPr lang="en-US" dirty="0" err="1"/>
              <a:t>vícero</a:t>
            </a:r>
            <a:r>
              <a:rPr lang="en-US" dirty="0"/>
              <a:t> </a:t>
            </a:r>
            <a:r>
              <a:rPr lang="en-US" dirty="0" err="1"/>
              <a:t>obrázků</a:t>
            </a:r>
            <a:r>
              <a:rPr lang="en-US" dirty="0"/>
              <a:t> -&gt; </a:t>
            </a:r>
            <a:r>
              <a:rPr lang="en-US" dirty="0" err="1"/>
              <a:t>Odkaz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Reddit + </a:t>
            </a:r>
            <a:r>
              <a:rPr lang="en-US" dirty="0" err="1"/>
              <a:t>souřadnice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knize</a:t>
            </a:r>
            <a:r>
              <a:rPr lang="en-US" dirty="0"/>
              <a:t> </a:t>
            </a:r>
            <a:r>
              <a:rPr lang="en-US" dirty="0" err="1"/>
              <a:t>Mabinogon</a:t>
            </a:r>
            <a:r>
              <a:rPr lang="en-US" dirty="0"/>
              <a:t> -&gt; </a:t>
            </a:r>
            <a:r>
              <a:rPr lang="en-US" dirty="0" err="1"/>
              <a:t>Telefonní</a:t>
            </a:r>
            <a:r>
              <a:rPr lang="en-US" dirty="0"/>
              <a:t> </a:t>
            </a:r>
            <a:r>
              <a:rPr lang="en-US" dirty="0" err="1"/>
              <a:t>číslo</a:t>
            </a:r>
            <a:r>
              <a:rPr lang="en-US" dirty="0"/>
              <a:t> s </a:t>
            </a:r>
            <a:r>
              <a:rPr lang="en-US" dirty="0" err="1"/>
              <a:t>předem</a:t>
            </a:r>
            <a:r>
              <a:rPr lang="en-US" dirty="0"/>
              <a:t> </a:t>
            </a:r>
            <a:r>
              <a:rPr lang="en-US" dirty="0" err="1"/>
              <a:t>nahranou</a:t>
            </a:r>
            <a:r>
              <a:rPr lang="en-US" dirty="0"/>
              <a:t> </a:t>
            </a:r>
            <a:r>
              <a:rPr lang="en-US" dirty="0" err="1"/>
              <a:t>zprávou</a:t>
            </a:r>
            <a:r>
              <a:rPr lang="en-US" dirty="0"/>
              <a:t> -&gt; </a:t>
            </a:r>
            <a:r>
              <a:rPr lang="en-US" dirty="0" err="1"/>
              <a:t>matematická</a:t>
            </a:r>
            <a:r>
              <a:rPr lang="en-US" dirty="0"/>
              <a:t> </a:t>
            </a:r>
            <a:r>
              <a:rPr lang="en-US" dirty="0" err="1"/>
              <a:t>hádanka</a:t>
            </a:r>
            <a:r>
              <a:rPr lang="en-US" dirty="0"/>
              <a:t> -&gt; </a:t>
            </a:r>
            <a:r>
              <a:rPr lang="cs-CZ" b="0" i="0" dirty="0">
                <a:solidFill>
                  <a:srgbClr val="202122"/>
                </a:solidFill>
                <a:effectLst/>
              </a:rPr>
              <a:t>845145127</a:t>
            </a:r>
            <a:r>
              <a:rPr lang="en-US" b="0" i="0" dirty="0">
                <a:solidFill>
                  <a:srgbClr val="202122"/>
                </a:solidFill>
                <a:effectLst/>
              </a:rPr>
              <a:t>.com -&gt; web s </a:t>
            </a:r>
            <a:r>
              <a:rPr lang="en-US" b="0" i="0" dirty="0" err="1">
                <a:solidFill>
                  <a:srgbClr val="202122"/>
                </a:solidFill>
                <a:effectLst/>
              </a:rPr>
              <a:t>odpočtem</a:t>
            </a:r>
            <a:r>
              <a:rPr lang="en-US" b="0" i="0" dirty="0">
                <a:solidFill>
                  <a:srgbClr val="202122"/>
                </a:solidFill>
                <a:effectLst/>
              </a:rPr>
              <a:t> 84h a </a:t>
            </a:r>
            <a:r>
              <a:rPr lang="en-US" b="0" i="0" dirty="0" err="1">
                <a:solidFill>
                  <a:srgbClr val="202122"/>
                </a:solidFill>
                <a:effectLst/>
              </a:rPr>
              <a:t>logem</a:t>
            </a:r>
            <a:r>
              <a:rPr lang="en-US" b="0" i="0" dirty="0">
                <a:solidFill>
                  <a:srgbClr val="202122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</a:rPr>
              <a:t>cikády</a:t>
            </a:r>
            <a:r>
              <a:rPr lang="en-US" b="0" i="0" dirty="0">
                <a:solidFill>
                  <a:srgbClr val="202122"/>
                </a:solidFill>
                <a:effectLst/>
              </a:rPr>
              <a:t> -&gt; geo </a:t>
            </a:r>
            <a:r>
              <a:rPr lang="en-US" b="0" i="0" dirty="0" err="1">
                <a:solidFill>
                  <a:srgbClr val="202122"/>
                </a:solidFill>
                <a:effectLst/>
              </a:rPr>
              <a:t>souřadnice</a:t>
            </a:r>
            <a:r>
              <a:rPr lang="en-US" b="0" i="0" dirty="0">
                <a:solidFill>
                  <a:srgbClr val="202122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</a:rPr>
              <a:t>míst</a:t>
            </a:r>
            <a:r>
              <a:rPr lang="en-US" b="0" i="0" dirty="0">
                <a:solidFill>
                  <a:srgbClr val="202122"/>
                </a:solidFill>
                <a:effectLst/>
              </a:rPr>
              <a:t> (USA,RUS,JPN,FRA…) -&gt; QR </a:t>
            </a:r>
            <a:r>
              <a:rPr lang="en-US" b="0" i="0" dirty="0" err="1">
                <a:solidFill>
                  <a:srgbClr val="202122"/>
                </a:solidFill>
                <a:effectLst/>
              </a:rPr>
              <a:t>kód</a:t>
            </a:r>
            <a:r>
              <a:rPr lang="en-US" b="0" i="0" dirty="0">
                <a:solidFill>
                  <a:srgbClr val="202122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</a:rPr>
              <a:t>na</a:t>
            </a:r>
            <a:r>
              <a:rPr lang="en-US" b="0" i="0" dirty="0">
                <a:solidFill>
                  <a:srgbClr val="202122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</a:rPr>
              <a:t>pouliční</a:t>
            </a:r>
            <a:r>
              <a:rPr lang="en-US" b="0" i="0" dirty="0">
                <a:solidFill>
                  <a:srgbClr val="202122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</a:rPr>
              <a:t>lampě</a:t>
            </a:r>
            <a:r>
              <a:rPr lang="en-US" b="0" i="0" dirty="0">
                <a:solidFill>
                  <a:srgbClr val="202122"/>
                </a:solidFill>
                <a:effectLst/>
              </a:rPr>
              <a:t> -&gt; </a:t>
            </a:r>
            <a:r>
              <a:rPr lang="en-US" b="0" i="0" dirty="0" err="1">
                <a:solidFill>
                  <a:srgbClr val="202122"/>
                </a:solidFill>
                <a:effectLst/>
              </a:rPr>
              <a:t>Úryvky</a:t>
            </a:r>
            <a:r>
              <a:rPr lang="en-US" b="0" i="0" dirty="0">
                <a:solidFill>
                  <a:srgbClr val="202122"/>
                </a:solidFill>
                <a:effectLst/>
              </a:rPr>
              <a:t> z </a:t>
            </a:r>
            <a:r>
              <a:rPr lang="en-US" b="0" i="0" dirty="0" err="1">
                <a:solidFill>
                  <a:srgbClr val="202122"/>
                </a:solidFill>
                <a:effectLst/>
              </a:rPr>
              <a:t>knihy</a:t>
            </a:r>
            <a:r>
              <a:rPr lang="en-US" b="0" i="0" dirty="0">
                <a:solidFill>
                  <a:srgbClr val="202122"/>
                </a:solidFill>
                <a:effectLst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</a:rPr>
              <a:t>Agriba</a:t>
            </a:r>
            <a:r>
              <a:rPr lang="en-US" b="0" i="0" dirty="0">
                <a:solidFill>
                  <a:srgbClr val="202122"/>
                </a:solidFill>
                <a:effectLst/>
              </a:rPr>
              <a:t>: The book of a death -&gt; POSLEDNÍ ŠIFRA -&gt; </a:t>
            </a:r>
            <a:r>
              <a:rPr lang="cs-CZ" b="1" i="1" dirty="0">
                <a:solidFill>
                  <a:srgbClr val="202122"/>
                </a:solidFill>
                <a:effectLst/>
              </a:rPr>
              <a:t>sq6wmgv2zcsrrix6t.onion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595289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4D2E3-B332-4E13-8617-846BBAFA6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C00256D-C81D-13ED-588A-5864176CA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FBCC-0C58-4A99-AF7C-627613AAA17C}" type="slidenum">
              <a:rPr lang="cs-CZ" smtClean="0"/>
              <a:t>38</a:t>
            </a:fld>
            <a:endParaRPr lang="cs-CZ" dirty="0"/>
          </a:p>
        </p:txBody>
      </p:sp>
      <p:pic>
        <p:nvPicPr>
          <p:cNvPr id="6" name="Obrázek 5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5A67D525-8EE1-8479-22F2-3CAE997F3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2" name="Obrázek 1" descr="Cicada 3301: Tajemná společnost a nevyřešená šifra, která obletěla celý  svět – EnigmaPlus.cz">
            <a:extLst>
              <a:ext uri="{FF2B5EF4-FFF2-40B4-BE49-F238E27FC236}">
                <a16:creationId xmlns:a16="http://schemas.microsoft.com/office/drawing/2014/main" id="{977F6925-0254-1F71-404F-8BE8DE0EC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41" y="1328209"/>
            <a:ext cx="5139267" cy="3883025"/>
          </a:xfrm>
          <a:prstGeom prst="rect">
            <a:avLst/>
          </a:prstGeom>
        </p:spPr>
      </p:pic>
      <p:pic>
        <p:nvPicPr>
          <p:cNvPr id="3" name="Obrázek 2" descr="The Internet's Cicada: A Mystery Without An Answer : NPR">
            <a:extLst>
              <a:ext uri="{FF2B5EF4-FFF2-40B4-BE49-F238E27FC236}">
                <a16:creationId xmlns:a16="http://schemas.microsoft.com/office/drawing/2014/main" id="{A8483AAA-295B-F7CA-912C-99A467A68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750" y="1333500"/>
            <a:ext cx="3134784" cy="3580342"/>
          </a:xfrm>
          <a:prstGeom prst="rect">
            <a:avLst/>
          </a:prstGeom>
        </p:spPr>
      </p:pic>
      <p:pic>
        <p:nvPicPr>
          <p:cNvPr id="7" name="Obrázek 6" descr="Obsah obrázku motýl, Můry a motýli, hmyz, bezobratlý&#10;&#10;Obsah generovaný pomocí AI může být nesprávný.">
            <a:extLst>
              <a:ext uri="{FF2B5EF4-FFF2-40B4-BE49-F238E27FC236}">
                <a16:creationId xmlns:a16="http://schemas.microsoft.com/office/drawing/2014/main" id="{257AFCC8-6B82-E33A-0BE0-FD50E2C7A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41" y="5201708"/>
            <a:ext cx="2964392" cy="151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4628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06109-6A79-F687-386E-E21F2A6A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69CF4F2E-D480-154E-B6EB-75B9FA7BF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20" y="1271602"/>
            <a:ext cx="7886700" cy="1325563"/>
          </a:xfrm>
        </p:spPr>
        <p:txBody>
          <a:bodyPr/>
          <a:lstStyle/>
          <a:p>
            <a:r>
              <a:rPr lang="en-US" dirty="0"/>
              <a:t>$ </a:t>
            </a:r>
            <a:r>
              <a:rPr lang="en-US" dirty="0" err="1"/>
              <a:t>DarkNet</a:t>
            </a:r>
            <a:r>
              <a:rPr lang="en-US" dirty="0"/>
              <a:t> – Leaks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76F1338-179B-22BE-8308-F06626FB9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FBCC-0C58-4A99-AF7C-627613AAA17C}" type="slidenum">
              <a:rPr lang="cs-CZ" smtClean="0"/>
              <a:t>39</a:t>
            </a:fld>
            <a:endParaRPr lang="cs-CZ" dirty="0"/>
          </a:p>
        </p:txBody>
      </p:sp>
      <p:pic>
        <p:nvPicPr>
          <p:cNvPr id="6" name="Obrázek 5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AB53CDCC-C44F-7804-EC1A-513D8CF6E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3" name="AutoShape 2" descr="Decoding the Undecodable: Inside the Unsolved Riddles of Cicada 3301! |  Digital Daze">
            <a:extLst>
              <a:ext uri="{FF2B5EF4-FFF2-40B4-BE49-F238E27FC236}">
                <a16:creationId xmlns:a16="http://schemas.microsoft.com/office/drawing/2014/main" id="{1466368E-0CFF-5F0B-EB51-482EAAF74B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/>
          </a:p>
        </p:txBody>
      </p:sp>
      <p:sp>
        <p:nvSpPr>
          <p:cNvPr id="7" name="AutoShape 6" descr="Decoding the Undecodable: Inside the Unsolved Riddles of Cicada 3301! |  Digital Daze">
            <a:extLst>
              <a:ext uri="{FF2B5EF4-FFF2-40B4-BE49-F238E27FC236}">
                <a16:creationId xmlns:a16="http://schemas.microsoft.com/office/drawing/2014/main" id="{AAC5B6CB-3316-2265-4C40-7B02FE8EC4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AC33CD33-9AEF-B9F9-AA34-FA52C8DFE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29" y="2453197"/>
            <a:ext cx="6084309" cy="285045"/>
          </a:xfrm>
          <a:prstGeom prst="rect">
            <a:avLst/>
          </a:prstGeom>
        </p:spPr>
      </p:pic>
      <p:pic>
        <p:nvPicPr>
          <p:cNvPr id="9" name="Obrázek 8" descr="Obsah obrázku text, snímek obrazovky, Písmo&#10;&#10;Popis se vygeneroval automaticky.">
            <a:extLst>
              <a:ext uri="{FF2B5EF4-FFF2-40B4-BE49-F238E27FC236}">
                <a16:creationId xmlns:a16="http://schemas.microsoft.com/office/drawing/2014/main" id="{8025131F-1016-F454-D2F7-D0C822A65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85" y="2860960"/>
            <a:ext cx="4399923" cy="1820413"/>
          </a:xfrm>
          <a:prstGeom prst="rect">
            <a:avLst/>
          </a:prstGeom>
        </p:spPr>
      </p:pic>
      <p:pic>
        <p:nvPicPr>
          <p:cNvPr id="10" name="Obrázek 9" descr="Obsah obrázku text, Písmo, snímek obrazovky, Grafika&#10;&#10;Popis se vygeneroval automaticky.">
            <a:extLst>
              <a:ext uri="{FF2B5EF4-FFF2-40B4-BE49-F238E27FC236}">
                <a16:creationId xmlns:a16="http://schemas.microsoft.com/office/drawing/2014/main" id="{D1E311EA-52C9-FA0B-74BD-CE23825A9F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61" y="4676346"/>
            <a:ext cx="2635786" cy="610564"/>
          </a:xfrm>
          <a:prstGeom prst="rect">
            <a:avLst/>
          </a:prstGeom>
        </p:spPr>
      </p:pic>
      <p:pic>
        <p:nvPicPr>
          <p:cNvPr id="11" name="Obrázek 10" descr="Obsah obrázku text, snímek obrazovky, Písmo&#10;&#10;Popis se vygeneroval automaticky.">
            <a:extLst>
              <a:ext uri="{FF2B5EF4-FFF2-40B4-BE49-F238E27FC236}">
                <a16:creationId xmlns:a16="http://schemas.microsoft.com/office/drawing/2014/main" id="{FF162704-DAF9-3BA4-3771-8BD9E2DC35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85" y="5390948"/>
            <a:ext cx="9895004" cy="1080532"/>
          </a:xfrm>
          <a:prstGeom prst="rect">
            <a:avLst/>
          </a:prstGeom>
        </p:spPr>
      </p:pic>
      <p:pic>
        <p:nvPicPr>
          <p:cNvPr id="12" name="Obrázek 11" descr="Obsah obrázku text, snímek obrazovky, Písmo, číslo&#10;&#10;Popis se vygeneroval automaticky.">
            <a:extLst>
              <a:ext uri="{FF2B5EF4-FFF2-40B4-BE49-F238E27FC236}">
                <a16:creationId xmlns:a16="http://schemas.microsoft.com/office/drawing/2014/main" id="{5DDE7EB3-C2D1-87D5-B407-952EBADAA1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9127" y="2373955"/>
            <a:ext cx="3138668" cy="236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109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E156F-A319-0AFA-4B56-F18A58653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AA77A526-F66B-0E26-B2F8-E9545CE6C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20" y="1271602"/>
            <a:ext cx="7886700" cy="1325563"/>
          </a:xfrm>
        </p:spPr>
        <p:txBody>
          <a:bodyPr/>
          <a:lstStyle/>
          <a:p>
            <a:r>
              <a:rPr lang="en-US" dirty="0">
                <a:latin typeface="Calibri Light"/>
                <a:ea typeface="Calibri Light"/>
                <a:cs typeface="Calibri Light"/>
              </a:rPr>
              <a:t>$ </a:t>
            </a:r>
            <a:r>
              <a:rPr lang="cs-CZ" dirty="0">
                <a:latin typeface="Calibri Light"/>
                <a:ea typeface="Calibri Light"/>
                <a:cs typeface="Calibri Light"/>
              </a:rPr>
              <a:t>ČR v </a:t>
            </a:r>
            <a:r>
              <a:rPr lang="cs-CZ" dirty="0" err="1">
                <a:latin typeface="Calibri Light"/>
                <a:ea typeface="Calibri Light"/>
                <a:cs typeface="Calibri Light"/>
              </a:rPr>
              <a:t>Cyber</a:t>
            </a:r>
            <a:r>
              <a:rPr lang="cs-CZ" dirty="0">
                <a:latin typeface="Calibri Light"/>
                <a:ea typeface="Calibri Light"/>
                <a:cs typeface="Calibri Light"/>
              </a:rPr>
              <a:t> světě</a:t>
            </a:r>
            <a:endParaRPr lang="en-US" dirty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8650E7B-449B-14C5-B8BE-B4187DD60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FBCC-0C58-4A99-AF7C-627613AAA17C}" type="slidenum">
              <a:rPr lang="cs-CZ" smtClean="0"/>
              <a:t>40</a:t>
            </a:fld>
            <a:endParaRPr lang="cs-CZ" dirty="0"/>
          </a:p>
        </p:txBody>
      </p:sp>
      <p:pic>
        <p:nvPicPr>
          <p:cNvPr id="6" name="Obrázek 5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DF61AD8D-399B-107E-2ACD-93BBC1CFE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3" name="AutoShape 2" descr="Decoding the Undecodable: Inside the Unsolved Riddles of Cicada 3301! |  Digital Daze">
            <a:extLst>
              <a:ext uri="{FF2B5EF4-FFF2-40B4-BE49-F238E27FC236}">
                <a16:creationId xmlns:a16="http://schemas.microsoft.com/office/drawing/2014/main" id="{565E62C0-6E24-9C64-DD8D-9A63A017BD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/>
          </a:p>
        </p:txBody>
      </p:sp>
      <p:sp>
        <p:nvSpPr>
          <p:cNvPr id="7" name="AutoShape 6" descr="Decoding the Undecodable: Inside the Unsolved Riddles of Cicada 3301! |  Digital Daze">
            <a:extLst>
              <a:ext uri="{FF2B5EF4-FFF2-40B4-BE49-F238E27FC236}">
                <a16:creationId xmlns:a16="http://schemas.microsoft.com/office/drawing/2014/main" id="{AF451450-9BFC-A54A-8A9F-735D9891D8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/>
          </a:p>
        </p:txBody>
      </p:sp>
      <p:sp>
        <p:nvSpPr>
          <p:cNvPr id="2" name="Zástupný obsah 5">
            <a:extLst>
              <a:ext uri="{FF2B5EF4-FFF2-40B4-BE49-F238E27FC236}">
                <a16:creationId xmlns:a16="http://schemas.microsoft.com/office/drawing/2014/main" id="{70B20D4E-50DA-7566-6F94-E5871E9D4D54}"/>
              </a:ext>
            </a:extLst>
          </p:cNvPr>
          <p:cNvSpPr>
            <a:spLocks noGrp="1"/>
          </p:cNvSpPr>
          <p:nvPr/>
        </p:nvSpPr>
        <p:spPr>
          <a:xfrm>
            <a:off x="850498" y="2633217"/>
            <a:ext cx="5325127" cy="43369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3000">
                <a:solidFill>
                  <a:srgbClr val="040C28"/>
                </a:solidFill>
                <a:ea typeface="Calibri"/>
                <a:cs typeface="Calibri"/>
              </a:rPr>
              <a:t>MO</a:t>
            </a:r>
            <a:endParaRPr lang="cs-CZ"/>
          </a:p>
          <a:p>
            <a:pPr lvl="1"/>
            <a:r>
              <a:rPr lang="cs-CZ" sz="3000">
                <a:solidFill>
                  <a:srgbClr val="040C28"/>
                </a:solidFill>
                <a:ea typeface="Calibri"/>
                <a:cs typeface="Calibri"/>
              </a:rPr>
              <a:t>VEINKYS</a:t>
            </a:r>
            <a:endParaRPr lang="en-US" sz="3000">
              <a:solidFill>
                <a:srgbClr val="000000"/>
              </a:solidFill>
              <a:ea typeface="Calibri"/>
              <a:cs typeface="Calibri"/>
            </a:endParaRPr>
          </a:p>
          <a:p>
            <a:pPr lvl="1"/>
            <a:r>
              <a:rPr lang="cs-CZ" sz="3000">
                <a:solidFill>
                  <a:srgbClr val="040C28"/>
                </a:solidFill>
                <a:ea typeface="Calibri"/>
                <a:cs typeface="Calibri"/>
              </a:rPr>
              <a:t>VZ</a:t>
            </a:r>
            <a:endParaRPr lang="cs-CZ" sz="3000" dirty="0">
              <a:solidFill>
                <a:srgbClr val="040C28"/>
              </a:solidFill>
              <a:ea typeface="Calibri"/>
              <a:cs typeface="Calibri"/>
            </a:endParaRPr>
          </a:p>
          <a:p>
            <a:pPr lvl="1"/>
            <a:r>
              <a:rPr lang="cs-CZ" sz="3000">
                <a:solidFill>
                  <a:srgbClr val="040C28"/>
                </a:solidFill>
                <a:ea typeface="Calibri"/>
                <a:cs typeface="Calibri"/>
              </a:rPr>
              <a:t>AKIS</a:t>
            </a:r>
            <a:endParaRPr lang="cs-CZ"/>
          </a:p>
          <a:p>
            <a:endParaRPr lang="cs-CZ" sz="3000" dirty="0">
              <a:solidFill>
                <a:srgbClr val="040C28"/>
              </a:solidFill>
              <a:ea typeface="Calibri"/>
              <a:cs typeface="Calibri"/>
            </a:endParaRPr>
          </a:p>
        </p:txBody>
      </p:sp>
      <p:sp>
        <p:nvSpPr>
          <p:cNvPr id="13" name="Zástupný obsah 5">
            <a:extLst>
              <a:ext uri="{FF2B5EF4-FFF2-40B4-BE49-F238E27FC236}">
                <a16:creationId xmlns:a16="http://schemas.microsoft.com/office/drawing/2014/main" id="{943367F9-5CAE-C085-D4D6-424CE44B5DCE}"/>
              </a:ext>
            </a:extLst>
          </p:cNvPr>
          <p:cNvSpPr txBox="1">
            <a:spLocks/>
          </p:cNvSpPr>
          <p:nvPr/>
        </p:nvSpPr>
        <p:spPr>
          <a:xfrm>
            <a:off x="5414972" y="2635098"/>
            <a:ext cx="5325127" cy="43369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3000" dirty="0">
                <a:solidFill>
                  <a:srgbClr val="040C28"/>
                </a:solidFill>
                <a:cs typeface="Calibri"/>
              </a:rPr>
              <a:t>NÚKIB</a:t>
            </a:r>
            <a:endParaRPr lang="cs-CZ" sz="3000" dirty="0"/>
          </a:p>
          <a:p>
            <a:pPr lvl="1"/>
            <a:r>
              <a:rPr lang="cs-CZ" sz="3000" dirty="0">
                <a:solidFill>
                  <a:srgbClr val="040C28"/>
                </a:solidFill>
                <a:ea typeface="Calibri"/>
                <a:cs typeface="Calibri"/>
              </a:rPr>
              <a:t>Národní CSIRT</a:t>
            </a:r>
          </a:p>
          <a:p>
            <a:pPr lvl="1"/>
            <a:r>
              <a:rPr lang="cs-CZ" sz="3000" dirty="0">
                <a:solidFill>
                  <a:srgbClr val="040C28"/>
                </a:solidFill>
                <a:ea typeface="Calibri"/>
                <a:cs typeface="Calibri"/>
              </a:rPr>
              <a:t>Vládní CERT</a:t>
            </a:r>
          </a:p>
          <a:p>
            <a:pPr marL="457200" lvl="1" indent="0">
              <a:buNone/>
            </a:pPr>
            <a:endParaRPr lang="cs-CZ" sz="3000" dirty="0">
              <a:solidFill>
                <a:srgbClr val="040C28"/>
              </a:solidFill>
              <a:ea typeface="Calibri"/>
              <a:cs typeface="Calibri"/>
            </a:endParaRPr>
          </a:p>
          <a:p>
            <a:r>
              <a:rPr lang="cs-CZ" sz="3000" dirty="0">
                <a:solidFill>
                  <a:srgbClr val="040C28"/>
                </a:solidFill>
                <a:ea typeface="Calibri"/>
                <a:cs typeface="Calibri"/>
              </a:rPr>
              <a:t>MV</a:t>
            </a:r>
          </a:p>
          <a:p>
            <a:pPr lvl="1"/>
            <a:r>
              <a:rPr lang="cs-CZ" sz="3000">
                <a:solidFill>
                  <a:srgbClr val="040C28"/>
                </a:solidFill>
                <a:ea typeface="Calibri"/>
                <a:cs typeface="Calibri"/>
              </a:rPr>
              <a:t>NCTEKK</a:t>
            </a:r>
          </a:p>
          <a:p>
            <a:pPr lvl="1"/>
            <a:r>
              <a:rPr lang="cs-CZ" sz="3000">
                <a:solidFill>
                  <a:srgbClr val="040C28"/>
                </a:solidFill>
                <a:ea typeface="Calibri"/>
                <a:cs typeface="Calibri"/>
              </a:rPr>
              <a:t>BIS</a:t>
            </a:r>
            <a:endParaRPr lang="cs-CZ" sz="3000" dirty="0">
              <a:solidFill>
                <a:srgbClr val="040C28"/>
              </a:solidFill>
              <a:ea typeface="Calibri"/>
              <a:cs typeface="Calibri"/>
            </a:endParaRPr>
          </a:p>
          <a:p>
            <a:endParaRPr lang="cs-CZ" sz="3000" dirty="0">
              <a:solidFill>
                <a:srgbClr val="040C28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9396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66D0F-3CA9-738B-C8A4-7D2DAE28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D416C3E2-7075-50B2-7BA2-D8FFD7D08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20" y="1271602"/>
            <a:ext cx="7886700" cy="1325563"/>
          </a:xfrm>
        </p:spPr>
        <p:txBody>
          <a:bodyPr/>
          <a:lstStyle/>
          <a:p>
            <a:r>
              <a:rPr lang="en-US" dirty="0">
                <a:latin typeface="Calibri Light"/>
                <a:ea typeface="Calibri Light"/>
                <a:cs typeface="Calibri Light"/>
              </a:rPr>
              <a:t>$ </a:t>
            </a:r>
            <a:r>
              <a:rPr lang="cs-CZ" dirty="0">
                <a:latin typeface="Calibri Light"/>
                <a:ea typeface="Calibri Light"/>
                <a:cs typeface="Calibri Light"/>
              </a:rPr>
              <a:t>NATO v </a:t>
            </a:r>
            <a:r>
              <a:rPr lang="cs-CZ" dirty="0" err="1">
                <a:latin typeface="Calibri Light"/>
                <a:ea typeface="Calibri Light"/>
                <a:cs typeface="Calibri Light"/>
              </a:rPr>
              <a:t>Cyber</a:t>
            </a:r>
            <a:r>
              <a:rPr lang="cs-CZ" dirty="0">
                <a:latin typeface="Calibri Light"/>
                <a:ea typeface="Calibri Light"/>
                <a:cs typeface="Calibri Light"/>
              </a:rPr>
              <a:t> světě</a:t>
            </a:r>
            <a:endParaRPr lang="en-US" dirty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8931522-801E-DE3C-F9F5-714D3C22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FBCC-0C58-4A99-AF7C-627613AAA17C}" type="slidenum">
              <a:rPr lang="cs-CZ" smtClean="0"/>
              <a:t>41</a:t>
            </a:fld>
            <a:endParaRPr lang="cs-CZ" dirty="0"/>
          </a:p>
        </p:txBody>
      </p:sp>
      <p:pic>
        <p:nvPicPr>
          <p:cNvPr id="6" name="Obrázek 5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C522E3EC-2AC9-9A00-E077-897FB68D4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3" name="AutoShape 2" descr="Decoding the Undecodable: Inside the Unsolved Riddles of Cicada 3301! |  Digital Daze">
            <a:extLst>
              <a:ext uri="{FF2B5EF4-FFF2-40B4-BE49-F238E27FC236}">
                <a16:creationId xmlns:a16="http://schemas.microsoft.com/office/drawing/2014/main" id="{7351F2C2-85C7-EF4A-1466-2F1B59595A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/>
          </a:p>
        </p:txBody>
      </p:sp>
      <p:sp>
        <p:nvSpPr>
          <p:cNvPr id="7" name="AutoShape 6" descr="Decoding the Undecodable: Inside the Unsolved Riddles of Cicada 3301! |  Digital Daze">
            <a:extLst>
              <a:ext uri="{FF2B5EF4-FFF2-40B4-BE49-F238E27FC236}">
                <a16:creationId xmlns:a16="http://schemas.microsoft.com/office/drawing/2014/main" id="{5C1958D7-7D8D-9CAF-2748-F5129FFB4E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/>
          </a:p>
        </p:txBody>
      </p:sp>
      <p:pic>
        <p:nvPicPr>
          <p:cNvPr id="8" name="Obrázek 7" descr="Ukrajina byla přijata jako přispívající účastník kybernetické části NATO -  Lupa.cz">
            <a:extLst>
              <a:ext uri="{FF2B5EF4-FFF2-40B4-BE49-F238E27FC236}">
                <a16:creationId xmlns:a16="http://schemas.microsoft.com/office/drawing/2014/main" id="{09602599-D1FC-1022-3635-4E6517AE1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58" y="2915708"/>
            <a:ext cx="4997450" cy="2758016"/>
          </a:xfrm>
          <a:prstGeom prst="rect">
            <a:avLst/>
          </a:prstGeom>
        </p:spPr>
      </p:pic>
      <p:pic>
        <p:nvPicPr>
          <p:cNvPr id="9" name="Obrázek 8" descr="Tallinn | Estonia, Map, &amp; Facts | Britannica">
            <a:extLst>
              <a:ext uri="{FF2B5EF4-FFF2-40B4-BE49-F238E27FC236}">
                <a16:creationId xmlns:a16="http://schemas.microsoft.com/office/drawing/2014/main" id="{6BCF8CB7-99FA-2F83-2F80-7FFC47548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500" y="1545167"/>
            <a:ext cx="4800600" cy="470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721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59C39-C4BC-856D-8C16-7BCCF077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AF1108B-BA35-2964-740E-B81932FBA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EFBCC-0C58-4A99-AF7C-627613AAA17C}" type="slidenum">
              <a:rPr lang="cs-CZ" smtClean="0"/>
              <a:t>42</a:t>
            </a:fld>
            <a:endParaRPr lang="cs-CZ" dirty="0"/>
          </a:p>
        </p:txBody>
      </p:sp>
      <p:pic>
        <p:nvPicPr>
          <p:cNvPr id="6" name="Obrázek 5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A7190A88-C7DB-D41D-FBB7-BB328D6E8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3" name="AutoShape 2" descr="Decoding the Undecodable: Inside the Unsolved Riddles of Cicada 3301! |  Digital Daze">
            <a:extLst>
              <a:ext uri="{FF2B5EF4-FFF2-40B4-BE49-F238E27FC236}">
                <a16:creationId xmlns:a16="http://schemas.microsoft.com/office/drawing/2014/main" id="{6280B7E6-8CCB-3BA8-8DEC-2DDF81B5A0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/>
          </a:p>
        </p:txBody>
      </p:sp>
      <p:sp>
        <p:nvSpPr>
          <p:cNvPr id="7" name="AutoShape 6" descr="Decoding the Undecodable: Inside the Unsolved Riddles of Cicada 3301! |  Digital Daze">
            <a:extLst>
              <a:ext uri="{FF2B5EF4-FFF2-40B4-BE49-F238E27FC236}">
                <a16:creationId xmlns:a16="http://schemas.microsoft.com/office/drawing/2014/main" id="{B3FC35CC-F344-7C42-2DBE-B8EDE4EDA3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/>
          </a:p>
        </p:txBody>
      </p:sp>
      <p:pic>
        <p:nvPicPr>
          <p:cNvPr id="2" name="Obrázek 1" descr="Obsah obrázku text, snímek obrazovky, diagram, Plán&#10;&#10;Popis se vygeneroval automaticky.">
            <a:extLst>
              <a:ext uri="{FF2B5EF4-FFF2-40B4-BE49-F238E27FC236}">
                <a16:creationId xmlns:a16="http://schemas.microsoft.com/office/drawing/2014/main" id="{7B774FFD-EE67-FD59-7504-4AD434401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666" y="1956329"/>
            <a:ext cx="9736667" cy="4501092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29036334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EEB0C-6DB2-A2EB-9896-5724E74F7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19D39D-C6F2-C3C3-ED1B-83D0EF0A7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86" y="2562066"/>
            <a:ext cx="10591289" cy="2172229"/>
          </a:xfrm>
        </p:spPr>
        <p:txBody>
          <a:bodyPr>
            <a:noAutofit/>
          </a:bodyPr>
          <a:lstStyle/>
          <a:p>
            <a:r>
              <a:rPr lang="cs-CZ" sz="9650" dirty="0"/>
              <a:t>2. PRAKTICKÁ ČÁST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37B9AA9E-9411-B0FF-5C46-C43FE048C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35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CTF platforma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0515600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dirty="0">
                <a:hlinkClick r:id="rId2"/>
              </a:rPr>
              <a:t>https://ctf.k209.cz/</a:t>
            </a:r>
            <a:endParaRPr lang="cs-CZ" dirty="0">
              <a:solidFill>
                <a:srgbClr val="000000"/>
              </a:solidFill>
              <a:hlinkClick r:id="rId2"/>
            </a:endParaRP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</a:endParaRPr>
          </a:p>
          <a:p>
            <a:pPr marL="514350" indent="-514350">
              <a:buAutoNum type="arabicPeriod"/>
            </a:pPr>
            <a:r>
              <a:rPr lang="cs-CZ" dirty="0">
                <a:solidFill>
                  <a:srgbClr val="000000"/>
                </a:solidFill>
              </a:rPr>
              <a:t>Registrace &amp; Login</a:t>
            </a:r>
          </a:p>
          <a:p>
            <a:pPr lvl="1"/>
            <a:r>
              <a:rPr lang="cs-CZ">
                <a:solidFill>
                  <a:srgbClr val="000000"/>
                </a:solidFill>
              </a:rPr>
              <a:t>Token: </a:t>
            </a:r>
            <a:r>
              <a:rPr lang="cs-CZ">
                <a:solidFill>
                  <a:srgbClr val="FF0000"/>
                </a:solidFill>
              </a:rPr>
              <a:t>VUT_summer2026</a:t>
            </a:r>
          </a:p>
          <a:p>
            <a:pPr marL="514350" indent="-514350">
              <a:buAutoNum type="arabicPeriod"/>
            </a:pPr>
            <a:r>
              <a:rPr lang="cs-CZ" dirty="0">
                <a:solidFill>
                  <a:srgbClr val="000000"/>
                </a:solidFill>
              </a:rPr>
              <a:t>Intro (3 </a:t>
            </a:r>
            <a:r>
              <a:rPr lang="cs-CZ">
                <a:solidFill>
                  <a:srgbClr val="000000"/>
                </a:solidFill>
              </a:rPr>
              <a:t>challenges</a:t>
            </a:r>
            <a:r>
              <a:rPr lang="cs-CZ" dirty="0">
                <a:solidFill>
                  <a:srgbClr val="000000"/>
                </a:solidFill>
              </a:rPr>
              <a:t>)</a:t>
            </a:r>
          </a:p>
          <a:p>
            <a:pPr marL="514350" indent="-514350">
              <a:buAutoNum type="arabicPeriod"/>
            </a:pPr>
            <a:r>
              <a:rPr lang="cs-CZ"/>
              <a:t>Malware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6" name="Obrázek 5" descr="Obsah obrázku text, snímek obrazovky, software, Multimediální software&#10;&#10;Obsah generovaný pomocí AI může být nesprávný.">
            <a:extLst>
              <a:ext uri="{FF2B5EF4-FFF2-40B4-BE49-F238E27FC236}">
                <a16:creationId xmlns:a16="http://schemas.microsoft.com/office/drawing/2014/main" id="{3B090CD3-EB76-4211-486A-7182A562E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052" y="1841499"/>
            <a:ext cx="6677647" cy="4360334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29571778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CA850-8EB5-C7B0-DCB7-AC9223723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ADADD5-4E9D-E6ED-6A2F-4E5A4182D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367" y="2562066"/>
            <a:ext cx="9192683" cy="2172229"/>
          </a:xfrm>
        </p:spPr>
        <p:txBody>
          <a:bodyPr>
            <a:noAutofit/>
          </a:bodyPr>
          <a:lstStyle/>
          <a:p>
            <a:r>
              <a:rPr lang="cs-CZ" sz="9650" dirty="0"/>
              <a:t>DALŠÍ MATERIÁLY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BC6EC8EA-1D8D-12C6-9997-EC5255828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448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Fyzická paměť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8" name="Content Placeholder 7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C469D7E1-EDE9-AB50-94C2-4947A48B5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3162883"/>
            <a:ext cx="10515600" cy="2925050"/>
          </a:xfrm>
        </p:spPr>
      </p:pic>
    </p:spTree>
    <p:extLst>
      <p:ext uri="{BB962C8B-B14F-4D97-AF65-F5344CB8AC3E}">
        <p14:creationId xmlns:p14="http://schemas.microsoft.com/office/powerpoint/2010/main" val="20101707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x86-CPU: </a:t>
            </a:r>
            <a:r>
              <a:rPr lang="cs-CZ" dirty="0">
                <a:ea typeface="+mj-lt"/>
                <a:cs typeface="+mj-lt"/>
              </a:rPr>
              <a:t>Registry 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0515600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/>
              <a:t>Registry = úložiště pro CPU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Výhoda -&gt; rychlost toku dat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Nevýhoda -&gt; malá kapacita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cs-CZ" sz="2000" dirty="0"/>
          </a:p>
          <a:p>
            <a:r>
              <a:rPr lang="cs-CZ" sz="2400" dirty="0"/>
              <a:t>Některé mají speciální funkce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6" name="Picture 5" descr="A close up of a circuit board&#10;&#10;Description automatically generated">
            <a:extLst>
              <a:ext uri="{FF2B5EF4-FFF2-40B4-BE49-F238E27FC236}">
                <a16:creationId xmlns:a16="http://schemas.microsoft.com/office/drawing/2014/main" id="{324D9FF7-E622-BFFD-6F28-EE200DEEB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757" y="4916034"/>
            <a:ext cx="2311400" cy="1554390"/>
          </a:xfrm>
          <a:prstGeom prst="rect">
            <a:avLst/>
          </a:prstGeom>
        </p:spPr>
      </p:pic>
      <p:pic>
        <p:nvPicPr>
          <p:cNvPr id="7" name="Picture 6" descr="A diagram of a stack&#10;&#10;Description automatically generated">
            <a:extLst>
              <a:ext uri="{FF2B5EF4-FFF2-40B4-BE49-F238E27FC236}">
                <a16:creationId xmlns:a16="http://schemas.microsoft.com/office/drawing/2014/main" id="{F6D0BCCD-12FE-149B-2EE3-D9D4562DC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977" y="1657803"/>
            <a:ext cx="5778500" cy="4551136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272973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x86-CPU: </a:t>
            </a:r>
            <a:r>
              <a:rPr lang="cs-CZ" dirty="0">
                <a:ea typeface="+mj-lt"/>
                <a:cs typeface="+mj-lt"/>
              </a:rPr>
              <a:t>Registry 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cs-CZ" sz="2400" dirty="0">
                <a:ea typeface="+mn-lt"/>
                <a:cs typeface="+mn-lt"/>
              </a:rPr>
              <a:t>AX: </a:t>
            </a:r>
            <a:r>
              <a:rPr lang="cs-CZ" sz="2400" dirty="0" err="1">
                <a:ea typeface="+mn-lt"/>
                <a:cs typeface="+mn-lt"/>
              </a:rPr>
              <a:t>Accumulator</a:t>
            </a:r>
            <a:r>
              <a:rPr lang="cs-CZ" sz="2400" dirty="0">
                <a:ea typeface="+mn-lt"/>
                <a:cs typeface="+mn-lt"/>
              </a:rPr>
              <a:t>       -&gt; akumulátor pro operandy a výsledná data</a:t>
            </a:r>
          </a:p>
          <a:p>
            <a:r>
              <a:rPr lang="cs-CZ" sz="2400" dirty="0">
                <a:ea typeface="+mn-lt"/>
                <a:cs typeface="+mn-lt"/>
              </a:rPr>
              <a:t>BX: Base Pointer        -&gt; ukazuje na data v segmentu DS</a:t>
            </a:r>
            <a:endParaRPr lang="cs-CZ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CX: </a:t>
            </a:r>
            <a:r>
              <a:rPr lang="cs-CZ" sz="2400" dirty="0" err="1">
                <a:ea typeface="+mn-lt"/>
                <a:cs typeface="+mn-lt"/>
              </a:rPr>
              <a:t>Counter</a:t>
            </a:r>
            <a:r>
              <a:rPr lang="cs-CZ" sz="2400" dirty="0">
                <a:ea typeface="+mn-lt"/>
                <a:cs typeface="+mn-lt"/>
              </a:rPr>
              <a:t> Pointer    -&gt; čítač pro řetězcové a smyčkové operace</a:t>
            </a:r>
            <a:endParaRPr lang="cs-CZ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DX: Data Pointer        -&gt; ukazatel dat (I/O ukazatel)</a:t>
            </a:r>
          </a:p>
          <a:p>
            <a:r>
              <a:rPr lang="cs-CZ" sz="2400" dirty="0">
                <a:ea typeface="+mn-lt"/>
                <a:cs typeface="+mn-lt"/>
              </a:rPr>
              <a:t>SI: Source Pointer     -&gt; zdrojový ukazatel pro operace se </a:t>
            </a:r>
            <a:r>
              <a:rPr lang="cs-CZ" sz="2400" dirty="0" err="1">
                <a:ea typeface="+mn-lt"/>
                <a:cs typeface="+mn-lt"/>
              </a:rPr>
              <a:t>stringy</a:t>
            </a:r>
            <a:endParaRPr lang="cs-CZ" sz="2400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DI: </a:t>
            </a:r>
            <a:r>
              <a:rPr lang="cs-CZ" sz="2400" dirty="0" err="1">
                <a:ea typeface="+mn-lt"/>
                <a:cs typeface="+mn-lt"/>
              </a:rPr>
              <a:t>Destination</a:t>
            </a:r>
            <a:r>
              <a:rPr lang="cs-CZ" sz="2400" dirty="0">
                <a:ea typeface="+mn-lt"/>
                <a:cs typeface="+mn-lt"/>
              </a:rPr>
              <a:t> Pointer       -&gt; cílový ukazatel pro operace se </a:t>
            </a:r>
            <a:r>
              <a:rPr lang="cs-CZ" sz="2400" dirty="0" err="1">
                <a:ea typeface="+mn-lt"/>
                <a:cs typeface="+mn-lt"/>
              </a:rPr>
              <a:t>stringy</a:t>
            </a:r>
            <a:endParaRPr lang="cs-CZ" dirty="0" err="1"/>
          </a:p>
          <a:p>
            <a:r>
              <a:rPr lang="cs-CZ" sz="2400" dirty="0">
                <a:ea typeface="+mn-lt"/>
                <a:cs typeface="+mn-lt"/>
              </a:rPr>
              <a:t>SP: </a:t>
            </a:r>
            <a:r>
              <a:rPr lang="cs-CZ" sz="2400" dirty="0" err="1">
                <a:ea typeface="+mn-lt"/>
                <a:cs typeface="+mn-lt"/>
              </a:rPr>
              <a:t>Stack</a:t>
            </a:r>
            <a:r>
              <a:rPr lang="cs-CZ" sz="2400" dirty="0">
                <a:ea typeface="+mn-lt"/>
                <a:cs typeface="+mn-lt"/>
              </a:rPr>
              <a:t> Pointer       -&gt; ukazuje na začátek zásobníku</a:t>
            </a:r>
            <a:endParaRPr lang="cs-CZ" dirty="0"/>
          </a:p>
          <a:p>
            <a:r>
              <a:rPr lang="cs-CZ" sz="2400" dirty="0">
                <a:ea typeface="+mn-lt"/>
                <a:cs typeface="+mn-lt"/>
              </a:rPr>
              <a:t>BP: </a:t>
            </a:r>
            <a:r>
              <a:rPr lang="cs-CZ" sz="2400" dirty="0" err="1">
                <a:ea typeface="+mn-lt"/>
                <a:cs typeface="+mn-lt"/>
              </a:rPr>
              <a:t>Stack</a:t>
            </a:r>
            <a:r>
              <a:rPr lang="cs-CZ" sz="2400" dirty="0">
                <a:ea typeface="+mn-lt"/>
                <a:cs typeface="+mn-lt"/>
              </a:rPr>
              <a:t> Base Pointer   -&gt; ukazatel pro rámec zásobníku (</a:t>
            </a:r>
            <a:r>
              <a:rPr lang="cs-CZ" sz="2400" dirty="0" err="1">
                <a:ea typeface="+mn-lt"/>
                <a:cs typeface="+mn-lt"/>
              </a:rPr>
              <a:t>stack</a:t>
            </a:r>
            <a:r>
              <a:rPr lang="cs-CZ" sz="2400" dirty="0">
                <a:ea typeface="+mn-lt"/>
                <a:cs typeface="+mn-lt"/>
              </a:rPr>
              <a:t> </a:t>
            </a:r>
            <a:r>
              <a:rPr lang="cs-CZ" sz="2400" dirty="0" err="1">
                <a:ea typeface="+mn-lt"/>
                <a:cs typeface="+mn-lt"/>
              </a:rPr>
              <a:t>frame</a:t>
            </a:r>
            <a:r>
              <a:rPr lang="cs-CZ" sz="2400" dirty="0">
                <a:ea typeface="+mn-lt"/>
                <a:cs typeface="+mn-lt"/>
              </a:rPr>
              <a:t>)</a:t>
            </a:r>
            <a:endParaRPr lang="cs-CZ" dirty="0"/>
          </a:p>
          <a:p>
            <a:r>
              <a:rPr lang="cs-CZ" sz="2400" dirty="0">
                <a:ea typeface="+mn-lt"/>
                <a:cs typeface="+mn-lt"/>
              </a:rPr>
              <a:t>IP: </a:t>
            </a:r>
            <a:r>
              <a:rPr lang="cs-CZ" sz="2400" dirty="0" err="1">
                <a:ea typeface="+mn-lt"/>
                <a:cs typeface="+mn-lt"/>
              </a:rPr>
              <a:t>Instruction</a:t>
            </a:r>
            <a:r>
              <a:rPr lang="cs-CZ" sz="2400" dirty="0">
                <a:ea typeface="+mn-lt"/>
                <a:cs typeface="+mn-lt"/>
              </a:rPr>
              <a:t> Pointer     -&gt; ukazuje na další instrukci, která má být provedena</a:t>
            </a:r>
            <a:endParaRPr lang="cs-CZ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561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x86-CPU: </a:t>
            </a:r>
            <a:r>
              <a:rPr lang="cs-CZ" dirty="0">
                <a:ea typeface="+mj-lt"/>
                <a:cs typeface="+mj-lt"/>
              </a:rPr>
              <a:t>Registry (32 / 64 bit)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32-bit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První písmeno "E" -&gt; "</a:t>
            </a:r>
            <a:r>
              <a:rPr lang="cs-CZ" sz="2000" err="1"/>
              <a:t>Extended</a:t>
            </a:r>
            <a:r>
              <a:rPr lang="cs-CZ" sz="2000" dirty="0"/>
              <a:t>"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/>
              <a:t>EAX, EBX, ECX...ESP, EIP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Velikost 32 bitů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cs-CZ" sz="2000" dirty="0"/>
          </a:p>
          <a:p>
            <a:r>
              <a:rPr lang="cs-CZ" sz="2400"/>
              <a:t>64-bit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První písmeno "R" -&gt; "</a:t>
            </a:r>
            <a:r>
              <a:rPr lang="cs-CZ" sz="2000" dirty="0" err="1"/>
              <a:t>Register</a:t>
            </a:r>
            <a:r>
              <a:rPr lang="cs-CZ" sz="2000" dirty="0"/>
              <a:t>"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/>
              <a:t>RAX, RBX, RCX...RSP, RIP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/>
              <a:t>R8 – R15 (speciální registry)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Velikost 64 bitů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6" name="Picture 5" descr="Assembly Expressions - RAD Studio">
            <a:extLst>
              <a:ext uri="{FF2B5EF4-FFF2-40B4-BE49-F238E27FC236}">
                <a16:creationId xmlns:a16="http://schemas.microsoft.com/office/drawing/2014/main" id="{5FA7C7B9-F95B-BD6D-0B2E-B25A93175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959" y="1482952"/>
            <a:ext cx="3487510" cy="511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9814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x86-CPU: </a:t>
            </a:r>
            <a:r>
              <a:rPr lang="cs-CZ" dirty="0">
                <a:ea typeface="+mj-lt"/>
                <a:cs typeface="+mj-lt"/>
              </a:rPr>
              <a:t>Registry (32 / 64 bit)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/>
              <a:t>Registry mohou uchovávat v podstatě cokoliv</a:t>
            </a:r>
            <a:endParaRPr lang="en-US" sz="2400" dirty="0"/>
          </a:p>
          <a:p>
            <a:endParaRPr lang="cs-CZ" sz="2400" dirty="0"/>
          </a:p>
          <a:p>
            <a:r>
              <a:rPr lang="cs-CZ" sz="2400" dirty="0"/>
              <a:t>Registr obsahuje nějakou HODNOTU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Ta je interpretována jako POINTER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/>
              <a:t>...a ten obsahuje ADRESU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Picture 3" descr="CS360 Lecture notes -- Assembler Lecture #2: Procedures, Stack Frames,  Spilling">
            <a:extLst>
              <a:ext uri="{FF2B5EF4-FFF2-40B4-BE49-F238E27FC236}">
                <a16:creationId xmlns:a16="http://schemas.microsoft.com/office/drawing/2014/main" id="{A61AE401-BBEB-705F-66D6-2BF2CC753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887" y="3724956"/>
            <a:ext cx="5304969" cy="2506888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2014928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Status</a:t>
            </a:r>
            <a:r>
              <a:rPr lang="cs-CZ" dirty="0">
                <a:ea typeface="+mj-lt"/>
                <a:cs typeface="+mj-lt"/>
              </a:rPr>
              <a:t> </a:t>
            </a:r>
            <a:r>
              <a:rPr lang="cs-CZ" dirty="0" err="1">
                <a:ea typeface="+mj-lt"/>
                <a:cs typeface="+mj-lt"/>
              </a:rPr>
              <a:t>Flags</a:t>
            </a:r>
            <a:r>
              <a:rPr lang="cs-CZ" dirty="0">
                <a:ea typeface="+mj-lt"/>
                <a:cs typeface="+mj-lt"/>
              </a:rPr>
              <a:t> 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/>
              <a:t>Uchovává výsledek nějaké operace (</a:t>
            </a:r>
            <a:r>
              <a:rPr lang="cs-CZ" sz="2400" dirty="0" err="1"/>
              <a:t>aritmických</a:t>
            </a:r>
            <a:r>
              <a:rPr lang="cs-CZ" sz="2400" dirty="0"/>
              <a:t> instrukcí)</a:t>
            </a:r>
          </a:p>
          <a:p>
            <a:r>
              <a:rPr lang="cs-CZ" sz="2400" dirty="0"/>
              <a:t>Dva nejdůležitější Status </a:t>
            </a:r>
            <a:r>
              <a:rPr lang="cs-CZ" sz="2400" dirty="0" err="1"/>
              <a:t>Flags</a:t>
            </a:r>
            <a:r>
              <a:rPr lang="cs-CZ" sz="2400" dirty="0"/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CARRY FLAG -&gt; nastaven, pokud instrukce přenáší hodnotu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ZERO FLAG -&gt; nastaven, pokud je hodnota 0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cs-CZ" sz="2000" dirty="0"/>
          </a:p>
          <a:p>
            <a:r>
              <a:rPr lang="cs-CZ" sz="2400" dirty="0"/>
              <a:t>K čemu jsou?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Nastavení podmínek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/>
              <a:t>např. podmínka: "</a:t>
            </a:r>
            <a:r>
              <a:rPr lang="cs-CZ" sz="1600" dirty="0" err="1"/>
              <a:t>jump</a:t>
            </a:r>
            <a:r>
              <a:rPr lang="cs-CZ" sz="1600" dirty="0"/>
              <a:t> </a:t>
            </a:r>
            <a:r>
              <a:rPr lang="cs-CZ" sz="1600" dirty="0" err="1"/>
              <a:t>if</a:t>
            </a:r>
            <a:r>
              <a:rPr lang="cs-CZ" sz="1600" dirty="0"/>
              <a:t> </a:t>
            </a:r>
            <a:r>
              <a:rPr lang="cs-CZ" sz="1600" dirty="0" err="1"/>
              <a:t>zero</a:t>
            </a:r>
            <a:r>
              <a:rPr lang="cs-CZ" sz="1600" dirty="0"/>
              <a:t>"</a:t>
            </a:r>
          </a:p>
          <a:p>
            <a:pPr lvl="3"/>
            <a:r>
              <a:rPr lang="cs-CZ" sz="1400" dirty="0"/>
              <a:t>Pokud je hodnota instrukce 0, můžeš skočit na danou adresu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34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Endianness</a:t>
            </a:r>
            <a:endParaRPr lang="cs-CZ" dirty="0" err="1">
              <a:ea typeface="+mj-lt"/>
              <a:cs typeface="+mj-l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/>
              <a:t>2 druhy zápisu adresy</a:t>
            </a:r>
          </a:p>
          <a:p>
            <a:endParaRPr lang="cs-CZ" sz="2400" dirty="0"/>
          </a:p>
          <a:p>
            <a:r>
              <a:rPr lang="cs-CZ" sz="2400" dirty="0"/>
              <a:t>BIG-</a:t>
            </a:r>
            <a:r>
              <a:rPr lang="cs-CZ" sz="2400" dirty="0" err="1"/>
              <a:t>endian</a:t>
            </a:r>
            <a:r>
              <a:rPr lang="cs-CZ" sz="2400" dirty="0"/>
              <a:t> -&gt; Most </a:t>
            </a:r>
            <a:r>
              <a:rPr lang="cs-CZ" sz="2400" dirty="0" err="1"/>
              <a:t>significant</a:t>
            </a:r>
            <a:r>
              <a:rPr lang="cs-CZ" sz="2400" dirty="0"/>
              <a:t> byte … Least </a:t>
            </a:r>
            <a:r>
              <a:rPr lang="cs-CZ" sz="2400" dirty="0" err="1"/>
              <a:t>significant</a:t>
            </a:r>
            <a:r>
              <a:rPr lang="cs-CZ" sz="2400" dirty="0"/>
              <a:t> byte</a:t>
            </a:r>
          </a:p>
          <a:p>
            <a:r>
              <a:rPr lang="cs-CZ" sz="2400" dirty="0"/>
              <a:t>LITTLE-</a:t>
            </a:r>
            <a:r>
              <a:rPr lang="cs-CZ" sz="2400" dirty="0" err="1"/>
              <a:t>endian</a:t>
            </a:r>
            <a:r>
              <a:rPr lang="cs-CZ" sz="2400" dirty="0"/>
              <a:t> -&gt; </a:t>
            </a:r>
            <a:r>
              <a:rPr lang="cs-CZ" sz="2400" dirty="0">
                <a:ea typeface="+mn-lt"/>
                <a:cs typeface="+mn-lt"/>
              </a:rPr>
              <a:t>Least </a:t>
            </a:r>
            <a:r>
              <a:rPr lang="cs-CZ" sz="2400" dirty="0" err="1">
                <a:ea typeface="+mn-lt"/>
                <a:cs typeface="+mn-lt"/>
              </a:rPr>
              <a:t>significant</a:t>
            </a:r>
            <a:r>
              <a:rPr lang="cs-CZ" sz="2400" dirty="0">
                <a:ea typeface="+mn-lt"/>
                <a:cs typeface="+mn-lt"/>
              </a:rPr>
              <a:t> byte … Most </a:t>
            </a:r>
            <a:r>
              <a:rPr lang="cs-CZ" sz="2400" dirty="0" err="1">
                <a:ea typeface="+mn-lt"/>
                <a:cs typeface="+mn-lt"/>
              </a:rPr>
              <a:t>significant</a:t>
            </a:r>
            <a:r>
              <a:rPr lang="cs-CZ" sz="2400" dirty="0">
                <a:ea typeface="+mn-lt"/>
                <a:cs typeface="+mn-lt"/>
              </a:rPr>
              <a:t> byte</a:t>
            </a:r>
            <a:endParaRPr lang="cs-CZ" sz="2400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6" name="Picture 5" descr="A blue and white rectangular sign with numbers&#10;&#10;Description automatically generated">
            <a:extLst>
              <a:ext uri="{FF2B5EF4-FFF2-40B4-BE49-F238E27FC236}">
                <a16:creationId xmlns:a16="http://schemas.microsoft.com/office/drawing/2014/main" id="{2C59EBF8-50C6-D8F4-F7BC-DC99A023B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46" y="5321300"/>
            <a:ext cx="8114392" cy="838200"/>
          </a:xfrm>
          <a:prstGeom prst="rect">
            <a:avLst/>
          </a:prstGeom>
        </p:spPr>
      </p:pic>
      <p:pic>
        <p:nvPicPr>
          <p:cNvPr id="7" name="Picture 6" descr="Why Software Development might not be ready for AI yet">
            <a:extLst>
              <a:ext uri="{FF2B5EF4-FFF2-40B4-BE49-F238E27FC236}">
                <a16:creationId xmlns:a16="http://schemas.microsoft.com/office/drawing/2014/main" id="{73C8C983-F536-DE11-7390-7F76C2EB8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279" y="1257980"/>
            <a:ext cx="3655785" cy="228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0135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Stack</a:t>
            </a:r>
            <a:endParaRPr lang="en-US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/>
              <a:t>Jednoduchá datová struktura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/>
              <a:t>Úkol: uchovávat lokální proměnné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/>
              <a:t>Po jejich použití je automaticky vymaže</a:t>
            </a:r>
          </a:p>
          <a:p>
            <a:r>
              <a:rPr lang="cs-CZ" sz="2400" dirty="0"/>
              <a:t>Rychlé, ale jen pro malé množství dat</a:t>
            </a:r>
            <a:endParaRPr lang="cs-CZ" dirty="0"/>
          </a:p>
          <a:p>
            <a:r>
              <a:rPr lang="cs-CZ" sz="2400" dirty="0"/>
              <a:t>LIFO pro řazení do fronty</a:t>
            </a:r>
          </a:p>
          <a:p>
            <a:r>
              <a:rPr lang="cs-CZ" sz="2400" dirty="0"/>
              <a:t>Nové instrukce se řadí nahoru</a:t>
            </a:r>
          </a:p>
          <a:p>
            <a:r>
              <a:rPr lang="cs-CZ" sz="2400" dirty="0"/>
              <a:t>Stavební blok -&gt; </a:t>
            </a:r>
            <a:r>
              <a:rPr lang="cs-CZ" sz="2400" err="1"/>
              <a:t>Stack</a:t>
            </a:r>
            <a:r>
              <a:rPr lang="cs-CZ" sz="2400" dirty="0"/>
              <a:t> </a:t>
            </a:r>
            <a:r>
              <a:rPr lang="cs-CZ" sz="2400" err="1"/>
              <a:t>Frame</a:t>
            </a:r>
            <a:endParaRPr lang="cs-CZ" sz="2400" dirty="0" err="1"/>
          </a:p>
          <a:p>
            <a:endParaRPr lang="cs-CZ" sz="2400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Picture 3" descr="A blue rectangles with white text&#10;&#10;Description automatically generated">
            <a:extLst>
              <a:ext uri="{FF2B5EF4-FFF2-40B4-BE49-F238E27FC236}">
                <a16:creationId xmlns:a16="http://schemas.microsoft.com/office/drawing/2014/main" id="{B1DAD5B4-6601-CA4A-1E00-5FDF76F95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628" y="2900590"/>
            <a:ext cx="5326743" cy="268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2722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Stack</a:t>
            </a:r>
            <a:r>
              <a:rPr lang="cs-CZ" dirty="0"/>
              <a:t> </a:t>
            </a:r>
            <a:r>
              <a:rPr lang="cs-CZ" dirty="0" err="1"/>
              <a:t>Frame</a:t>
            </a:r>
            <a:endParaRPr lang="en-US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/>
              <a:t>Obsahuje lokální proměnné a parametry</a:t>
            </a:r>
          </a:p>
          <a:p>
            <a:r>
              <a:rPr lang="cs-CZ" sz="2400" dirty="0"/>
              <a:t>Ukládá return adresy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31083677-AF46-4B1F-EB3E-C52ED6E7B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638" y="2124982"/>
            <a:ext cx="3289754" cy="4473122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7C32D9C3-5E75-BACA-695F-DFA2006E2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868" y="3756252"/>
            <a:ext cx="3986893" cy="153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8278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Memory</a:t>
            </a:r>
            <a:r>
              <a:rPr lang="cs-CZ" dirty="0"/>
              <a:t> layout - Windows X Linux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EF259A2-0490-B0F8-37CE-B8501B163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84697" y="2886188"/>
            <a:ext cx="5308147" cy="3079297"/>
          </a:xfrm>
        </p:spPr>
      </p:pic>
      <p:pic>
        <p:nvPicPr>
          <p:cNvPr id="10" name="Picture 9" descr="A screen shot of a computer&#10;&#10;Description automatically generated">
            <a:extLst>
              <a:ext uri="{FF2B5EF4-FFF2-40B4-BE49-F238E27FC236}">
                <a16:creationId xmlns:a16="http://schemas.microsoft.com/office/drawing/2014/main" id="{AB3C45C5-9B59-A89C-9E75-AAC6AB3C0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44" y="2885168"/>
            <a:ext cx="4216854" cy="308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3150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ELF soubory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= </a:t>
            </a:r>
            <a:r>
              <a:rPr lang="cs-CZ" sz="2400" err="1">
                <a:ea typeface="+mn-lt"/>
                <a:cs typeface="+mn-lt"/>
              </a:rPr>
              <a:t>Executable</a:t>
            </a:r>
            <a:r>
              <a:rPr lang="cs-CZ" sz="2400" dirty="0">
                <a:ea typeface="+mn-lt"/>
                <a:cs typeface="+mn-lt"/>
              </a:rPr>
              <a:t> and </a:t>
            </a:r>
            <a:r>
              <a:rPr lang="cs-CZ" sz="2400" err="1">
                <a:ea typeface="+mn-lt"/>
                <a:cs typeface="+mn-lt"/>
              </a:rPr>
              <a:t>Linkable</a:t>
            </a:r>
            <a:r>
              <a:rPr lang="cs-CZ" sz="2400" dirty="0">
                <a:ea typeface="+mn-lt"/>
                <a:cs typeface="+mn-lt"/>
              </a:rPr>
              <a:t> </a:t>
            </a:r>
            <a:r>
              <a:rPr lang="cs-CZ" sz="2400" err="1">
                <a:ea typeface="+mn-lt"/>
                <a:cs typeface="+mn-lt"/>
              </a:rPr>
              <a:t>Format</a:t>
            </a:r>
            <a:endParaRPr lang="cs-CZ" sz="240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Standardní formát binárních souborů pro Unix na procesorech x86</a:t>
            </a:r>
            <a:endParaRPr lang="cs-CZ" sz="2400" dirty="0"/>
          </a:p>
          <a:p>
            <a:r>
              <a:rPr lang="cs-CZ" sz="2400" dirty="0">
                <a:ea typeface="+mn-lt"/>
                <a:cs typeface="+mn-lt"/>
              </a:rPr>
              <a:t>Obsahuje 4 hlavní části s různým přístupem pro čtení, zápis a spouštění: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.text: spustitelný kód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.data: globální tabulky, proměnné atd.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.</a:t>
            </a:r>
            <a:r>
              <a:rPr lang="cs-CZ" sz="2000" dirty="0" err="1">
                <a:ea typeface="+mn-lt"/>
                <a:cs typeface="+mn-lt"/>
              </a:rPr>
              <a:t>rodata</a:t>
            </a:r>
            <a:r>
              <a:rPr lang="cs-CZ" sz="2000" dirty="0">
                <a:ea typeface="+mn-lt"/>
                <a:cs typeface="+mn-lt"/>
              </a:rPr>
              <a:t>: pouze pro čtení, řetězce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.</a:t>
            </a:r>
            <a:r>
              <a:rPr lang="cs-CZ" sz="2000" dirty="0" err="1">
                <a:ea typeface="+mn-lt"/>
                <a:cs typeface="+mn-lt"/>
              </a:rPr>
              <a:t>bss</a:t>
            </a:r>
            <a:r>
              <a:rPr lang="cs-CZ" sz="2000" dirty="0">
                <a:ea typeface="+mn-lt"/>
                <a:cs typeface="+mn-lt"/>
              </a:rPr>
              <a:t>: neinicializovaná pole a proměnné, vyplněné nulami</a:t>
            </a:r>
            <a:endParaRPr lang="cs-CZ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Picture 3" descr="Buddy The Elf Meme Generator - Imgflip">
            <a:extLst>
              <a:ext uri="{FF2B5EF4-FFF2-40B4-BE49-F238E27FC236}">
                <a16:creationId xmlns:a16="http://schemas.microsoft.com/office/drawing/2014/main" id="{45AD2EF3-3574-257D-B4FB-C3EA53DF9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1259505"/>
            <a:ext cx="1763485" cy="192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4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Compiler</a:t>
            </a:r>
            <a:r>
              <a:rPr lang="cs-CZ" dirty="0"/>
              <a:t> GCC (Linux)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= GNU </a:t>
            </a:r>
            <a:r>
              <a:rPr lang="cs-CZ" sz="2400" dirty="0" err="1">
                <a:ea typeface="+mn-lt"/>
                <a:cs typeface="+mn-lt"/>
              </a:rPr>
              <a:t>Compiler</a:t>
            </a:r>
            <a:r>
              <a:rPr lang="cs-CZ" sz="2400" dirty="0">
                <a:ea typeface="+mn-lt"/>
                <a:cs typeface="+mn-lt"/>
              </a:rPr>
              <a:t> </a:t>
            </a:r>
            <a:r>
              <a:rPr lang="cs-CZ" sz="2400" dirty="0" err="1">
                <a:ea typeface="+mn-lt"/>
                <a:cs typeface="+mn-lt"/>
              </a:rPr>
              <a:t>Collection</a:t>
            </a:r>
          </a:p>
          <a:p>
            <a:r>
              <a:rPr lang="cs-CZ" sz="2400" dirty="0">
                <a:ea typeface="+mn-lt"/>
                <a:cs typeface="+mn-lt"/>
              </a:rPr>
              <a:t>Kód v jazyce C do spustitelných souborů</a:t>
            </a:r>
            <a:endParaRPr lang="cs-CZ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volby příkazového řádku </a:t>
            </a:r>
            <a:r>
              <a:rPr lang="cs-CZ" sz="2400" dirty="0" err="1">
                <a:ea typeface="+mn-lt"/>
                <a:cs typeface="+mn-lt"/>
              </a:rPr>
              <a:t>gcc</a:t>
            </a:r>
            <a:r>
              <a:rPr lang="cs-CZ" sz="2400" dirty="0">
                <a:ea typeface="+mn-lt"/>
                <a:cs typeface="+mn-lt"/>
              </a:rPr>
              <a:t> (vypne se většina ochranných mechanismů !!)</a:t>
            </a:r>
            <a:endParaRPr lang="cs-CZ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-o: </a:t>
            </a:r>
            <a:r>
              <a:rPr lang="cs-CZ" sz="2000" err="1">
                <a:ea typeface="+mn-lt"/>
                <a:cs typeface="+mn-lt"/>
              </a:rPr>
              <a:t>outfile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-m32: 32bitový spustitelný soubor (musí být nainstalován </a:t>
            </a:r>
            <a:r>
              <a:rPr lang="cs-CZ" sz="2000" dirty="0" err="1">
                <a:ea typeface="+mn-lt"/>
                <a:cs typeface="+mn-lt"/>
              </a:rPr>
              <a:t>gcc-multilib</a:t>
            </a:r>
            <a:r>
              <a:rPr lang="cs-CZ" sz="2000" dirty="0">
                <a:ea typeface="+mn-lt"/>
                <a:cs typeface="+mn-lt"/>
              </a:rPr>
              <a:t>)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-</a:t>
            </a:r>
            <a:r>
              <a:rPr lang="cs-CZ" sz="2000" dirty="0" err="1">
                <a:ea typeface="+mn-lt"/>
                <a:cs typeface="+mn-lt"/>
              </a:rPr>
              <a:t>fno-stack-protector</a:t>
            </a:r>
            <a:r>
              <a:rPr lang="cs-CZ" sz="2000" dirty="0">
                <a:ea typeface="+mn-lt"/>
                <a:cs typeface="+mn-lt"/>
              </a:rPr>
              <a:t>: vypne ochranu zásobníku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-z </a:t>
            </a:r>
            <a:r>
              <a:rPr lang="cs-CZ" sz="2000" dirty="0" err="1">
                <a:ea typeface="+mn-lt"/>
                <a:cs typeface="+mn-lt"/>
              </a:rPr>
              <a:t>execstack</a:t>
            </a:r>
            <a:r>
              <a:rPr lang="cs-CZ" sz="2000" dirty="0">
                <a:ea typeface="+mn-lt"/>
                <a:cs typeface="+mn-lt"/>
              </a:rPr>
              <a:t>: vytvoří spustitelný zásobník</a:t>
            </a:r>
            <a:endParaRPr lang="cs-CZ" sz="2000" dirty="0"/>
          </a:p>
          <a:p>
            <a:r>
              <a:rPr lang="cs-CZ" sz="2400" dirty="0">
                <a:ea typeface="+mn-lt"/>
                <a:cs typeface="+mn-lt"/>
              </a:rPr>
              <a:t>Příkaz terminálu: </a:t>
            </a:r>
            <a:endParaRPr lang="cs-CZ" dirty="0" err="1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 err="1">
                <a:ea typeface="+mn-lt"/>
                <a:cs typeface="+mn-lt"/>
              </a:rPr>
              <a:t>gcc</a:t>
            </a:r>
            <a:r>
              <a:rPr lang="cs-CZ" sz="2000" dirty="0">
                <a:ea typeface="+mn-lt"/>
                <a:cs typeface="+mn-lt"/>
              </a:rPr>
              <a:t> -m32 -</a:t>
            </a:r>
            <a:r>
              <a:rPr lang="cs-CZ" sz="2000" dirty="0" err="1">
                <a:ea typeface="+mn-lt"/>
                <a:cs typeface="+mn-lt"/>
              </a:rPr>
              <a:t>fno-stack-protector</a:t>
            </a:r>
            <a:r>
              <a:rPr lang="cs-CZ" sz="2000" dirty="0">
                <a:ea typeface="+mn-lt"/>
                <a:cs typeface="+mn-lt"/>
              </a:rPr>
              <a:t> -z </a:t>
            </a:r>
            <a:r>
              <a:rPr lang="cs-CZ" sz="2000" dirty="0" err="1">
                <a:ea typeface="+mn-lt"/>
                <a:cs typeface="+mn-lt"/>
              </a:rPr>
              <a:t>execstack</a:t>
            </a:r>
            <a:r>
              <a:rPr lang="cs-CZ" sz="2000" dirty="0">
                <a:ea typeface="+mn-lt"/>
                <a:cs typeface="+mn-lt"/>
              </a:rPr>
              <a:t> -o program </a:t>
            </a:r>
            <a:r>
              <a:rPr lang="cs-CZ" sz="2000" dirty="0" err="1">
                <a:ea typeface="+mn-lt"/>
                <a:cs typeface="+mn-lt"/>
              </a:rPr>
              <a:t>program.c</a:t>
            </a:r>
            <a:endParaRPr lang="cs-CZ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6" name="Picture 5" descr="A cartoon of a bull coming out of an egg&#10;&#10;Description automatically generated">
            <a:extLst>
              <a:ext uri="{FF2B5EF4-FFF2-40B4-BE49-F238E27FC236}">
                <a16:creationId xmlns:a16="http://schemas.microsoft.com/office/drawing/2014/main" id="{BF89E3A8-F8B0-0903-2FD3-557B9DD69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064" y="1408058"/>
            <a:ext cx="1540423" cy="16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106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Assembly</a:t>
            </a:r>
            <a:r>
              <a:rPr lang="cs-CZ" dirty="0"/>
              <a:t> jazyk – Intel vs. AT&amp;T syntaxe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Hlavní rozdíly</a:t>
            </a:r>
            <a:endParaRPr lang="cs-CZ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Pořadí parametrů: </a:t>
            </a:r>
            <a:endParaRPr lang="cs-CZ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Intel: Cíl před zdrojem                      </a:t>
            </a:r>
            <a:r>
              <a:rPr lang="cs-CZ" sz="1600" dirty="0" err="1">
                <a:ea typeface="+mn-lt"/>
                <a:cs typeface="+mn-lt"/>
              </a:rPr>
              <a:t>mov</a:t>
            </a:r>
            <a:r>
              <a:rPr lang="cs-CZ" sz="1600" dirty="0">
                <a:ea typeface="+mn-lt"/>
                <a:cs typeface="+mn-lt"/>
              </a:rPr>
              <a:t> </a:t>
            </a:r>
            <a:r>
              <a:rPr lang="cs-CZ" sz="1600" dirty="0" err="1">
                <a:ea typeface="+mn-lt"/>
                <a:cs typeface="+mn-lt"/>
              </a:rPr>
              <a:t>eax</a:t>
            </a:r>
            <a:r>
              <a:rPr lang="cs-CZ" sz="1600" dirty="0">
                <a:ea typeface="+mn-lt"/>
                <a:cs typeface="+mn-lt"/>
              </a:rPr>
              <a:t>, 5</a:t>
            </a:r>
            <a:endParaRPr lang="cs-CZ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AT&amp;T: Zdroj před cílem                      </a:t>
            </a:r>
            <a:r>
              <a:rPr lang="cs-CZ" sz="1600" dirty="0" err="1">
                <a:ea typeface="+mn-lt"/>
                <a:cs typeface="+mn-lt"/>
              </a:rPr>
              <a:t>mov</a:t>
            </a:r>
            <a:r>
              <a:rPr lang="cs-CZ" sz="1600" dirty="0">
                <a:ea typeface="+mn-lt"/>
                <a:cs typeface="+mn-lt"/>
              </a:rPr>
              <a:t> $5, %</a:t>
            </a:r>
            <a:r>
              <a:rPr lang="cs-CZ" sz="1600" dirty="0" err="1">
                <a:ea typeface="+mn-lt"/>
                <a:cs typeface="+mn-lt"/>
              </a:rPr>
              <a:t>eax</a:t>
            </a:r>
            <a:endParaRPr lang="cs-CZ" sz="16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Velikost parametrů:</a:t>
            </a:r>
            <a:endParaRPr lang="cs-CZ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Intel: Odvozeno od názvu registru               </a:t>
            </a:r>
            <a:r>
              <a:rPr lang="cs-CZ" sz="1600" dirty="0" err="1">
                <a:ea typeface="+mn-lt"/>
                <a:cs typeface="+mn-lt"/>
              </a:rPr>
              <a:t>add</a:t>
            </a:r>
            <a:r>
              <a:rPr lang="cs-CZ" sz="1600" dirty="0">
                <a:ea typeface="+mn-lt"/>
                <a:cs typeface="+mn-lt"/>
              </a:rPr>
              <a:t> </a:t>
            </a:r>
            <a:r>
              <a:rPr lang="cs-CZ" sz="1600" dirty="0" err="1">
                <a:ea typeface="+mn-lt"/>
                <a:cs typeface="+mn-lt"/>
              </a:rPr>
              <a:t>esp</a:t>
            </a:r>
            <a:r>
              <a:rPr lang="cs-CZ" sz="1600" dirty="0">
                <a:ea typeface="+mn-lt"/>
                <a:cs typeface="+mn-lt"/>
              </a:rPr>
              <a:t>, 4</a:t>
            </a:r>
            <a:endParaRPr lang="cs-CZ" sz="1600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AT&amp;T: Doplněno písmenem označující velikost operandů      </a:t>
            </a:r>
            <a:r>
              <a:rPr lang="cs-CZ" sz="1600" err="1">
                <a:ea typeface="+mn-lt"/>
                <a:cs typeface="+mn-lt"/>
              </a:rPr>
              <a:t>addl</a:t>
            </a:r>
            <a:r>
              <a:rPr lang="cs-CZ" sz="1600" dirty="0">
                <a:ea typeface="+mn-lt"/>
                <a:cs typeface="+mn-lt"/>
              </a:rPr>
              <a:t> $4, %</a:t>
            </a:r>
            <a:r>
              <a:rPr lang="cs-CZ" sz="1600" err="1">
                <a:ea typeface="+mn-lt"/>
                <a:cs typeface="+mn-lt"/>
              </a:rPr>
              <a:t>esp</a:t>
            </a:r>
            <a:endParaRPr lang="cs-CZ" sz="1600"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endParaRPr lang="cs-CZ" sz="16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 err="1">
                <a:ea typeface="+mn-lt"/>
                <a:cs typeface="+mn-lt"/>
              </a:rPr>
              <a:t>Sigily</a:t>
            </a:r>
            <a:r>
              <a:rPr lang="cs-CZ" sz="2000" dirty="0">
                <a:ea typeface="+mn-lt"/>
                <a:cs typeface="+mn-lt"/>
              </a:rPr>
              <a:t>:</a:t>
            </a:r>
            <a:endParaRPr lang="cs-CZ" sz="2000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Intel: Assembler automaticky detekuje typ symbolů            </a:t>
            </a:r>
            <a:r>
              <a:rPr lang="cs-CZ" sz="1600" dirty="0" err="1">
                <a:ea typeface="+mn-lt"/>
                <a:cs typeface="+mn-lt"/>
              </a:rPr>
              <a:t>mov</a:t>
            </a:r>
            <a:r>
              <a:rPr lang="cs-CZ" sz="1600" dirty="0">
                <a:ea typeface="+mn-lt"/>
                <a:cs typeface="+mn-lt"/>
              </a:rPr>
              <a:t> </a:t>
            </a:r>
            <a:r>
              <a:rPr lang="cs-CZ" sz="1600" dirty="0" err="1">
                <a:ea typeface="+mn-lt"/>
                <a:cs typeface="+mn-lt"/>
              </a:rPr>
              <a:t>eax</a:t>
            </a:r>
            <a:r>
              <a:rPr lang="cs-CZ" sz="1600" dirty="0">
                <a:ea typeface="+mn-lt"/>
                <a:cs typeface="+mn-lt"/>
              </a:rPr>
              <a:t>, 5</a:t>
            </a:r>
            <a:endParaRPr lang="cs-CZ" sz="1600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AT&amp;T: Hodnoty s předponou „$“, registry s předponou „%“       </a:t>
            </a:r>
            <a:r>
              <a:rPr lang="cs-CZ" sz="1600" dirty="0" err="1">
                <a:ea typeface="+mn-lt"/>
                <a:cs typeface="+mn-lt"/>
              </a:rPr>
              <a:t>mov</a:t>
            </a:r>
            <a:r>
              <a:rPr lang="cs-CZ" sz="1600" dirty="0">
                <a:ea typeface="+mn-lt"/>
                <a:cs typeface="+mn-lt"/>
              </a:rPr>
              <a:t> $5, %</a:t>
            </a:r>
            <a:r>
              <a:rPr lang="cs-CZ" sz="1600" dirty="0" err="1">
                <a:ea typeface="+mn-lt"/>
                <a:cs typeface="+mn-lt"/>
              </a:rPr>
              <a:t>eax</a:t>
            </a:r>
            <a:endParaRPr lang="cs-CZ" sz="1600" dirty="0" err="1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651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Assembly</a:t>
            </a:r>
            <a:r>
              <a:rPr lang="cs-CZ" dirty="0"/>
              <a:t> jazyk – Intel vs. AT&amp;T syntaxe</a:t>
            </a:r>
            <a:endParaRPr lang="en-US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7" name="Picture 6" descr="A table with text and numbers&#10;&#10;Description automatically generated">
            <a:extLst>
              <a:ext uri="{FF2B5EF4-FFF2-40B4-BE49-F238E27FC236}">
                <a16:creationId xmlns:a16="http://schemas.microsoft.com/office/drawing/2014/main" id="{17BDFBEE-C301-D4B8-02FD-BC7D475E5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073" y="2721428"/>
            <a:ext cx="9162596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8178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Assembly</a:t>
            </a:r>
            <a:r>
              <a:rPr lang="cs-CZ" dirty="0"/>
              <a:t> - základní instrukce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4303485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MOV</a:t>
            </a:r>
          </a:p>
          <a:p>
            <a:r>
              <a:rPr lang="cs-CZ" sz="2400" dirty="0"/>
              <a:t>PUSH</a:t>
            </a:r>
          </a:p>
          <a:p>
            <a:r>
              <a:rPr lang="cs-CZ" sz="2400" dirty="0"/>
              <a:t>POP</a:t>
            </a:r>
          </a:p>
          <a:p>
            <a:r>
              <a:rPr lang="cs-CZ" sz="2400" dirty="0"/>
              <a:t>CALL</a:t>
            </a:r>
          </a:p>
          <a:p>
            <a:r>
              <a:rPr lang="cs-CZ" sz="2400" dirty="0"/>
              <a:t>RET</a:t>
            </a:r>
          </a:p>
          <a:p>
            <a:r>
              <a:rPr lang="cs-CZ" sz="2400" dirty="0"/>
              <a:t>JMP</a:t>
            </a:r>
            <a:endParaRPr lang="cs-CZ" dirty="0"/>
          </a:p>
          <a:p>
            <a:endParaRPr lang="cs-CZ" sz="2400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88165642-5FE6-C9AD-4461-280D9B79984B}"/>
              </a:ext>
            </a:extLst>
          </p:cNvPr>
          <p:cNvSpPr txBox="1">
            <a:spLocks/>
          </p:cNvSpPr>
          <p:nvPr/>
        </p:nvSpPr>
        <p:spPr>
          <a:xfrm>
            <a:off x="5040086" y="2817663"/>
            <a:ext cx="4303485" cy="37826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400" dirty="0"/>
              <a:t>CMP</a:t>
            </a:r>
            <a:endParaRPr lang="en-US" dirty="0"/>
          </a:p>
          <a:p>
            <a:r>
              <a:rPr lang="cs-CZ" sz="2400" dirty="0"/>
              <a:t>XOR</a:t>
            </a:r>
            <a:endParaRPr lang="cs-CZ"/>
          </a:p>
          <a:p>
            <a:r>
              <a:rPr lang="cs-CZ" sz="2400" dirty="0"/>
              <a:t>NOP</a:t>
            </a:r>
          </a:p>
          <a:p>
            <a:r>
              <a:rPr lang="cs-CZ" sz="2400" dirty="0"/>
              <a:t>INC</a:t>
            </a:r>
            <a:endParaRPr lang="cs-CZ"/>
          </a:p>
          <a:p>
            <a:r>
              <a:rPr lang="cs-CZ" sz="2400"/>
              <a:t>ADD</a:t>
            </a:r>
            <a:endParaRPr lang="cs-CZ"/>
          </a:p>
          <a:p>
            <a:r>
              <a:rPr lang="cs-CZ" sz="2400" dirty="0"/>
              <a:t>SUB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276818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Assembly</a:t>
            </a:r>
            <a:r>
              <a:rPr lang="cs-CZ" dirty="0"/>
              <a:t> instrukce - MOV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Syntaxe: </a:t>
            </a:r>
            <a:r>
              <a:rPr lang="cs-CZ" sz="2400" dirty="0" err="1">
                <a:ea typeface="+mn-lt"/>
                <a:cs typeface="+mn-lt"/>
              </a:rPr>
              <a:t>mov</a:t>
            </a:r>
            <a:r>
              <a:rPr lang="cs-CZ" sz="2400" dirty="0">
                <a:ea typeface="+mn-lt"/>
                <a:cs typeface="+mn-lt"/>
              </a:rPr>
              <a:t> DESTINATION, SOURCE</a:t>
            </a:r>
            <a:endParaRPr lang="cs-CZ" dirty="0">
              <a:ea typeface="+mn-lt"/>
              <a:cs typeface="+mn-lt"/>
            </a:endParaRPr>
          </a:p>
          <a:p>
            <a:endParaRPr lang="cs-CZ" sz="2400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Přesunutí aktuální hodnoty do registru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b="1" err="1">
                <a:ea typeface="+mn-lt"/>
                <a:cs typeface="+mn-lt"/>
              </a:rPr>
              <a:t>mov</a:t>
            </a:r>
            <a:r>
              <a:rPr lang="cs-CZ" sz="2000" b="1" dirty="0">
                <a:ea typeface="+mn-lt"/>
                <a:cs typeface="+mn-lt"/>
              </a:rPr>
              <a:t> EAX, 0x7 </a:t>
            </a:r>
            <a:endParaRPr lang="cs-CZ" b="1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EAX je nyní hexadecimální 7</a:t>
            </a:r>
            <a:endParaRPr lang="cs-CZ" dirty="0"/>
          </a:p>
          <a:p>
            <a:r>
              <a:rPr lang="cs-CZ" sz="2400" dirty="0">
                <a:ea typeface="+mn-lt"/>
                <a:cs typeface="+mn-lt"/>
              </a:rPr>
              <a:t>Přesunutí hodnoty z jednoho registru do druhého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b="1" err="1">
                <a:ea typeface="+mn-lt"/>
                <a:cs typeface="+mn-lt"/>
              </a:rPr>
              <a:t>mov</a:t>
            </a:r>
            <a:r>
              <a:rPr lang="cs-CZ" sz="2000" b="1" dirty="0">
                <a:ea typeface="+mn-lt"/>
                <a:cs typeface="+mn-lt"/>
              </a:rPr>
              <a:t> EAX, EBX</a:t>
            </a:r>
            <a:endParaRPr lang="cs-CZ" b="1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EAX má nyní stejnou hodnotu jako EBX</a:t>
            </a:r>
            <a:endParaRPr lang="cs-CZ" sz="1600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186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Assembly</a:t>
            </a:r>
            <a:r>
              <a:rPr lang="cs-CZ" dirty="0"/>
              <a:t> instrukce - PUSH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Syntaxe: </a:t>
            </a:r>
            <a:r>
              <a:rPr lang="cs-CZ" sz="2400" dirty="0" err="1">
                <a:ea typeface="+mn-lt"/>
                <a:cs typeface="+mn-lt"/>
              </a:rPr>
              <a:t>push</a:t>
            </a:r>
            <a:r>
              <a:rPr lang="cs-CZ" sz="2400" dirty="0">
                <a:ea typeface="+mn-lt"/>
                <a:cs typeface="+mn-lt"/>
              </a:rPr>
              <a:t> REGISTR</a:t>
            </a:r>
            <a:endParaRPr lang="cs-CZ" dirty="0">
              <a:ea typeface="+mn-lt"/>
              <a:cs typeface="+mn-lt"/>
            </a:endParaRPr>
          </a:p>
          <a:p>
            <a:endParaRPr lang="cs-CZ" sz="2400" dirty="0">
              <a:ea typeface="+mn-lt"/>
              <a:cs typeface="+mn-lt"/>
            </a:endParaRPr>
          </a:p>
          <a:p>
            <a:r>
              <a:rPr lang="cs-CZ" sz="2400" dirty="0" err="1">
                <a:ea typeface="+mn-lt"/>
                <a:cs typeface="+mn-lt"/>
              </a:rPr>
              <a:t>pushneme</a:t>
            </a:r>
            <a:r>
              <a:rPr lang="cs-CZ" sz="2400" dirty="0">
                <a:ea typeface="+mn-lt"/>
                <a:cs typeface="+mn-lt"/>
              </a:rPr>
              <a:t> obsah registru na zásobník 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b="1" dirty="0" err="1">
                <a:ea typeface="+mn-lt"/>
                <a:cs typeface="+mn-lt"/>
              </a:rPr>
              <a:t>push</a:t>
            </a:r>
            <a:r>
              <a:rPr lang="cs-CZ" sz="2000" b="1" dirty="0">
                <a:ea typeface="+mn-lt"/>
                <a:cs typeface="+mn-lt"/>
              </a:rPr>
              <a:t> EAX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Výsledek: hodnota v EAX je nyní na prvním místě zásobníku</a:t>
            </a:r>
            <a:endParaRPr lang="cs-CZ" sz="1600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0640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Assembly</a:t>
            </a:r>
            <a:r>
              <a:rPr lang="cs-CZ" dirty="0"/>
              <a:t> instrukce - POP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Syntaxe: pop REGISTR</a:t>
            </a:r>
            <a:endParaRPr lang="cs-CZ" dirty="0">
              <a:ea typeface="+mn-lt"/>
              <a:cs typeface="+mn-lt"/>
            </a:endParaRPr>
          </a:p>
          <a:p>
            <a:endParaRPr lang="cs-CZ" sz="2400" dirty="0">
              <a:ea typeface="+mn-lt"/>
              <a:cs typeface="+mn-lt"/>
            </a:endParaRPr>
          </a:p>
          <a:p>
            <a:r>
              <a:rPr lang="cs-CZ" sz="2400" dirty="0" err="1">
                <a:ea typeface="+mn-lt"/>
                <a:cs typeface="+mn-lt"/>
              </a:rPr>
              <a:t>popneme</a:t>
            </a:r>
            <a:r>
              <a:rPr lang="cs-CZ" sz="2400" dirty="0">
                <a:ea typeface="+mn-lt"/>
                <a:cs typeface="+mn-lt"/>
              </a:rPr>
              <a:t> položku z prvního zásobníku do registru</a:t>
            </a:r>
            <a:endParaRPr lang="cs-CZ" sz="2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b="1" dirty="0">
                <a:ea typeface="+mn-lt"/>
                <a:cs typeface="+mn-lt"/>
              </a:rPr>
              <a:t>pop EBX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Výsledek: položka na prvním místě zásobníku se nám přesune do EBX</a:t>
            </a:r>
            <a:endParaRPr lang="cs-CZ" sz="1600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752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Assembly</a:t>
            </a:r>
            <a:r>
              <a:rPr lang="cs-CZ" dirty="0"/>
              <a:t> instrukce - CALL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Syntaxe: call FUNKCE nebo call ADRESA</a:t>
            </a:r>
            <a:endParaRPr lang="cs-CZ" dirty="0" err="1">
              <a:ea typeface="+mn-lt"/>
              <a:cs typeface="+mn-lt"/>
            </a:endParaRPr>
          </a:p>
          <a:p>
            <a:endParaRPr lang="cs-CZ" sz="2400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Volá funkci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Instrukce CALL provádí dvě operace:</a:t>
            </a:r>
            <a:endParaRPr lang="cs-CZ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Posune return adresu (adresu bezprostředně za příkazem CALL) na zásobník</a:t>
            </a:r>
            <a:endParaRPr lang="cs-CZ" sz="2400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Změní EIP na call </a:t>
            </a:r>
            <a:r>
              <a:rPr lang="cs-CZ" sz="1600" dirty="0" err="1">
                <a:ea typeface="+mn-lt"/>
                <a:cs typeface="+mn-lt"/>
              </a:rPr>
              <a:t>destination</a:t>
            </a:r>
            <a:r>
              <a:rPr lang="cs-CZ" sz="1600" dirty="0">
                <a:ea typeface="+mn-lt"/>
                <a:cs typeface="+mn-lt"/>
              </a:rPr>
              <a:t>. Tím fakticky přenese řízení na cíl volání a zahájí jeho provádění</a:t>
            </a:r>
            <a:endParaRPr lang="cs-CZ" sz="160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097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Assembly</a:t>
            </a:r>
            <a:r>
              <a:rPr lang="cs-CZ" dirty="0"/>
              <a:t> instrukce - RET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Syntaxe: ret</a:t>
            </a:r>
            <a:endParaRPr lang="cs-CZ" dirty="0" err="1">
              <a:ea typeface="+mn-lt"/>
              <a:cs typeface="+mn-lt"/>
            </a:endParaRPr>
          </a:p>
          <a:p>
            <a:endParaRPr lang="cs-CZ" sz="2400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Vrátí hodnotu zpět </a:t>
            </a:r>
            <a:r>
              <a:rPr lang="cs-CZ" sz="2400" dirty="0" err="1">
                <a:ea typeface="+mn-lt"/>
                <a:cs typeface="+mn-lt"/>
              </a:rPr>
              <a:t>callerovi</a:t>
            </a:r>
            <a:endParaRPr lang="cs-CZ" dirty="0" err="1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533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Assembly</a:t>
            </a:r>
            <a:r>
              <a:rPr lang="cs-CZ" dirty="0"/>
              <a:t> instrukce - JMP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cs-CZ" sz="2400" dirty="0">
                <a:ea typeface="+mn-lt"/>
                <a:cs typeface="+mn-lt"/>
              </a:rPr>
              <a:t>Syntaxe: </a:t>
            </a:r>
            <a:r>
              <a:rPr lang="cs-CZ" sz="2400" dirty="0" err="1">
                <a:ea typeface="+mn-lt"/>
                <a:cs typeface="+mn-lt"/>
              </a:rPr>
              <a:t>jmp</a:t>
            </a:r>
            <a:r>
              <a:rPr lang="cs-CZ" sz="2400" dirty="0">
                <a:ea typeface="+mn-lt"/>
                <a:cs typeface="+mn-lt"/>
              </a:rPr>
              <a:t> REGISTR nebo </a:t>
            </a:r>
            <a:r>
              <a:rPr lang="cs-CZ" sz="2400" dirty="0" err="1">
                <a:ea typeface="+mn-lt"/>
                <a:cs typeface="+mn-lt"/>
              </a:rPr>
              <a:t>jmp</a:t>
            </a:r>
            <a:r>
              <a:rPr lang="cs-CZ" sz="2400" dirty="0">
                <a:ea typeface="+mn-lt"/>
                <a:cs typeface="+mn-lt"/>
              </a:rPr>
              <a:t> ADRESA</a:t>
            </a:r>
            <a:endParaRPr lang="cs-CZ" dirty="0">
              <a:ea typeface="+mn-lt"/>
              <a:cs typeface="+mn-lt"/>
            </a:endParaRPr>
          </a:p>
          <a:p>
            <a:endParaRPr lang="cs-CZ" sz="2400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Skočí na zadanou adresu paměti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b="1" err="1">
                <a:ea typeface="+mn-lt"/>
                <a:cs typeface="+mn-lt"/>
              </a:rPr>
              <a:t>jmp</a:t>
            </a:r>
            <a:r>
              <a:rPr lang="cs-CZ" sz="2000" b="1" dirty="0">
                <a:ea typeface="+mn-lt"/>
                <a:cs typeface="+mn-lt"/>
              </a:rPr>
              <a:t> ESP</a:t>
            </a:r>
            <a:endParaRPr lang="cs-CZ" b="1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skočí na adresu uloženou v registru ESP</a:t>
            </a:r>
            <a:endParaRPr lang="cs-CZ" dirty="0"/>
          </a:p>
          <a:p>
            <a:endParaRPr lang="cs-CZ" sz="2400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Podmíněné skoky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provedou se pouze tehdy, je-li splněna podmínka (=příznak stavu)</a:t>
            </a:r>
            <a:endParaRPr lang="cs-CZ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JZ: skok, pokud je nula </a:t>
            </a:r>
            <a:endParaRPr lang="cs-CZ" sz="1600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JNZ: skok, pokud není nula</a:t>
            </a:r>
            <a:endParaRPr lang="cs-CZ" sz="1600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JE: skok, pokud se rovná</a:t>
            </a:r>
            <a:endParaRPr lang="cs-CZ" sz="16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b="1" err="1">
                <a:ea typeface="+mn-lt"/>
                <a:cs typeface="+mn-lt"/>
              </a:rPr>
              <a:t>cmp</a:t>
            </a:r>
            <a:r>
              <a:rPr lang="cs-CZ" sz="2000" b="1" dirty="0">
                <a:ea typeface="+mn-lt"/>
                <a:cs typeface="+mn-lt"/>
              </a:rPr>
              <a:t> EAX,EBX; je 0x11111111</a:t>
            </a:r>
            <a:endParaRPr lang="cs-CZ" b="1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skok na adresu 0x11111111 pouze v případě, že EAX a EBX mají stejné hodnoty</a:t>
            </a:r>
            <a:endParaRPr lang="cs-CZ" sz="1600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320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Assembly</a:t>
            </a:r>
            <a:r>
              <a:rPr lang="cs-CZ" dirty="0"/>
              <a:t> instrukce - XOR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Syntaxe: </a:t>
            </a:r>
            <a:r>
              <a:rPr lang="cs-CZ" sz="2400" dirty="0" err="1">
                <a:ea typeface="+mn-lt"/>
                <a:cs typeface="+mn-lt"/>
              </a:rPr>
              <a:t>xor</a:t>
            </a:r>
            <a:r>
              <a:rPr lang="cs-CZ" sz="2400" dirty="0">
                <a:ea typeface="+mn-lt"/>
                <a:cs typeface="+mn-lt"/>
              </a:rPr>
              <a:t> DESTINATION, HODNOTA</a:t>
            </a:r>
            <a:endParaRPr lang="cs-CZ" dirty="0">
              <a:ea typeface="+mn-lt"/>
              <a:cs typeface="+mn-lt"/>
            </a:endParaRPr>
          </a:p>
          <a:p>
            <a:endParaRPr lang="cs-CZ" sz="2400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Logická operace XOR</a:t>
            </a:r>
            <a:endParaRPr lang="cs-CZ" dirty="0"/>
          </a:p>
          <a:p>
            <a:endParaRPr lang="cs-CZ" sz="2400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Nejčastější použití: vymazání hodnoty registru</a:t>
            </a:r>
            <a:endParaRPr lang="cs-CZ" sz="2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b="1" err="1">
                <a:ea typeface="+mn-lt"/>
                <a:cs typeface="+mn-lt"/>
              </a:rPr>
              <a:t>xor</a:t>
            </a:r>
            <a:r>
              <a:rPr lang="cs-CZ" sz="2000" b="1" dirty="0">
                <a:ea typeface="+mn-lt"/>
                <a:cs typeface="+mn-lt"/>
              </a:rPr>
              <a:t> EAX, EAX</a:t>
            </a:r>
            <a:endParaRPr lang="cs-CZ" b="1" dirty="0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EAX se nastaví na 0</a:t>
            </a:r>
            <a:endParaRPr lang="cs-CZ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Picture 3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E29ECF1C-0752-0BD8-52FD-94A16241A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567" y="2196646"/>
            <a:ext cx="3997325" cy="232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256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Assembly</a:t>
            </a:r>
            <a:r>
              <a:rPr lang="cs-CZ" dirty="0"/>
              <a:t> instrukce - NOP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Syntaxe: nop</a:t>
            </a:r>
            <a:endParaRPr lang="cs-CZ" dirty="0">
              <a:ea typeface="+mn-lt"/>
              <a:cs typeface="+mn-lt"/>
            </a:endParaRPr>
          </a:p>
          <a:p>
            <a:endParaRPr lang="cs-CZ" sz="2400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Nedělej nic (No </a:t>
            </a:r>
            <a:r>
              <a:rPr lang="cs-CZ" sz="2400" dirty="0" err="1">
                <a:ea typeface="+mn-lt"/>
                <a:cs typeface="+mn-lt"/>
              </a:rPr>
              <a:t>OPeration</a:t>
            </a:r>
            <a:r>
              <a:rPr lang="cs-CZ" sz="2400" dirty="0">
                <a:ea typeface="+mn-lt"/>
                <a:cs typeface="+mn-lt"/>
              </a:rPr>
              <a:t>)</a:t>
            </a:r>
          </a:p>
          <a:p>
            <a:endParaRPr lang="cs-CZ" sz="2400" dirty="0"/>
          </a:p>
          <a:p>
            <a:r>
              <a:rPr lang="cs-CZ" sz="2400" dirty="0"/>
              <a:t>0x90</a:t>
            </a:r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8049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 err="1"/>
              <a:t>Assembly</a:t>
            </a:r>
            <a:r>
              <a:rPr lang="cs-CZ" dirty="0"/>
              <a:t> instrukce - INC, ADD, SUB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cs-CZ" sz="2400" dirty="0">
                <a:ea typeface="+mn-lt"/>
                <a:cs typeface="+mn-lt"/>
              </a:rPr>
              <a:t>INC</a:t>
            </a:r>
            <a:endParaRPr lang="cs-CZ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Syntaxe: </a:t>
            </a:r>
            <a:r>
              <a:rPr lang="cs-CZ" sz="2400" dirty="0" err="1">
                <a:ea typeface="+mn-lt"/>
                <a:cs typeface="+mn-lt"/>
              </a:rPr>
              <a:t>inc</a:t>
            </a:r>
            <a:r>
              <a:rPr lang="cs-CZ" sz="2400" dirty="0">
                <a:ea typeface="+mn-lt"/>
                <a:cs typeface="+mn-lt"/>
              </a:rPr>
              <a:t> REGISTR</a:t>
            </a:r>
            <a:endParaRPr lang="cs-CZ" dirty="0"/>
          </a:p>
          <a:p>
            <a:r>
              <a:rPr lang="cs-CZ" sz="2400" dirty="0">
                <a:ea typeface="+mn-lt"/>
                <a:cs typeface="+mn-lt"/>
              </a:rPr>
              <a:t>Zvýšení hodnoty v registru o 1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b="1" err="1">
                <a:ea typeface="+mn-lt"/>
                <a:cs typeface="+mn-lt"/>
              </a:rPr>
              <a:t>inc</a:t>
            </a:r>
            <a:r>
              <a:rPr lang="cs-CZ" sz="2000" b="1" dirty="0">
                <a:ea typeface="+mn-lt"/>
                <a:cs typeface="+mn-lt"/>
              </a:rPr>
              <a:t> EAX</a:t>
            </a:r>
            <a:endParaRPr lang="cs-CZ" b="1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EAX je nyní EAX+1</a:t>
            </a:r>
            <a:endParaRPr lang="cs-CZ" sz="1600" dirty="0"/>
          </a:p>
          <a:p>
            <a:pPr marL="0" indent="0">
              <a:buNone/>
            </a:pPr>
            <a:endParaRPr lang="cs-CZ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cs-CZ" sz="2400" dirty="0">
                <a:ea typeface="+mn-lt"/>
                <a:cs typeface="+mn-lt"/>
              </a:rPr>
              <a:t>ADD, SUB</a:t>
            </a:r>
            <a:endParaRPr lang="cs-CZ" dirty="0"/>
          </a:p>
          <a:p>
            <a:r>
              <a:rPr lang="cs-CZ" sz="2400" dirty="0">
                <a:ea typeface="+mn-lt"/>
                <a:cs typeface="+mn-lt"/>
              </a:rPr>
              <a:t>Syntaxe: </a:t>
            </a:r>
            <a:r>
              <a:rPr lang="cs-CZ" sz="2400" dirty="0" err="1">
                <a:ea typeface="+mn-lt"/>
                <a:cs typeface="+mn-lt"/>
              </a:rPr>
              <a:t>add</a:t>
            </a:r>
            <a:r>
              <a:rPr lang="cs-CZ" sz="2400" dirty="0">
                <a:ea typeface="+mn-lt"/>
                <a:cs typeface="+mn-lt"/>
              </a:rPr>
              <a:t>/sub DESTINATION, HODNOTA</a:t>
            </a:r>
            <a:endParaRPr lang="cs-CZ" dirty="0"/>
          </a:p>
          <a:p>
            <a:r>
              <a:rPr lang="cs-CZ" sz="2400" dirty="0"/>
              <a:t>+ / -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b="1" err="1">
                <a:ea typeface="+mn-lt"/>
                <a:cs typeface="+mn-lt"/>
              </a:rPr>
              <a:t>add</a:t>
            </a:r>
            <a:r>
              <a:rPr lang="cs-CZ" sz="2000" b="1" dirty="0">
                <a:ea typeface="+mn-lt"/>
                <a:cs typeface="+mn-lt"/>
              </a:rPr>
              <a:t> EAX, 0x7</a:t>
            </a:r>
            <a:endParaRPr lang="cs-CZ" b="1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EAX je nyní EAX+0x7</a:t>
            </a:r>
            <a:endParaRPr lang="cs-CZ" sz="16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b="1" err="1">
                <a:ea typeface="+mn-lt"/>
                <a:cs typeface="+mn-lt"/>
              </a:rPr>
              <a:t>add</a:t>
            </a:r>
            <a:r>
              <a:rPr lang="cs-CZ" sz="2000" b="1" dirty="0">
                <a:ea typeface="+mn-lt"/>
                <a:cs typeface="+mn-lt"/>
              </a:rPr>
              <a:t> EAX, EBX</a:t>
            </a:r>
            <a:endParaRPr lang="cs-CZ" sz="2000" b="1"/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>
                <a:ea typeface="+mn-lt"/>
                <a:cs typeface="+mn-lt"/>
              </a:rPr>
              <a:t>EAX je nyní EAX+EBX</a:t>
            </a:r>
            <a:endParaRPr lang="cs-CZ" sz="1600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40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Debugger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Program používaný k testování a ladění jiných programů</a:t>
            </a:r>
            <a:endParaRPr lang="cs-CZ" dirty="0"/>
          </a:p>
          <a:p>
            <a:r>
              <a:rPr lang="cs-CZ" sz="2400" dirty="0">
                <a:ea typeface="+mn-lt"/>
                <a:cs typeface="+mn-lt"/>
              </a:rPr>
              <a:t>Co umí: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Spuštění nebo zastavení cílového programu v bodech přerušení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>
                <a:ea typeface="+mn-lt"/>
                <a:cs typeface="+mn-lt"/>
              </a:rPr>
              <a:t>Zobrazení obsahu paměti nebo registrů procesoru 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Modifikování obsahu paměti nebo registrů</a:t>
            </a:r>
            <a:endParaRPr lang="cs-CZ"/>
          </a:p>
          <a:p>
            <a:r>
              <a:rPr lang="cs-CZ" sz="2400" dirty="0">
                <a:ea typeface="+mn-lt"/>
                <a:cs typeface="+mn-lt"/>
              </a:rPr>
              <a:t>Důležité pro nás (pro </a:t>
            </a:r>
            <a:r>
              <a:rPr lang="cs-CZ" sz="2400" dirty="0" err="1">
                <a:ea typeface="+mn-lt"/>
                <a:cs typeface="+mn-lt"/>
              </a:rPr>
              <a:t>explotaci</a:t>
            </a:r>
            <a:r>
              <a:rPr lang="cs-CZ" sz="2400" dirty="0">
                <a:ea typeface="+mn-lt"/>
                <a:cs typeface="+mn-lt"/>
              </a:rPr>
              <a:t>):</a:t>
            </a:r>
            <a:endParaRPr lang="cs-CZ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Kontrola prováděných instrukcí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Zjištění stavu paměti a registrů v určitém čase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 err="1">
                <a:ea typeface="+mn-lt"/>
                <a:cs typeface="+mn-lt"/>
              </a:rPr>
              <a:t>Zjistění</a:t>
            </a:r>
            <a:r>
              <a:rPr lang="cs-CZ" sz="2000" dirty="0">
                <a:ea typeface="+mn-lt"/>
                <a:cs typeface="+mn-lt"/>
              </a:rPr>
              <a:t>, jak je zpracován vstup </a:t>
            </a:r>
            <a:endParaRPr lang="cs-CZ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5978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7" name="Picture 6" descr="Debugging in Visual Studio Code">
            <a:extLst>
              <a:ext uri="{FF2B5EF4-FFF2-40B4-BE49-F238E27FC236}">
                <a16:creationId xmlns:a16="http://schemas.microsoft.com/office/drawing/2014/main" id="{09B4D83F-D8D2-75F7-99B4-B15CF0615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86" y="1355148"/>
            <a:ext cx="3969655" cy="2652729"/>
          </a:xfrm>
          <a:prstGeom prst="rect">
            <a:avLst/>
          </a:prstGeom>
        </p:spPr>
      </p:pic>
      <p:pic>
        <p:nvPicPr>
          <p:cNvPr id="8" name="Picture 7" descr="x64dbg">
            <a:extLst>
              <a:ext uri="{FF2B5EF4-FFF2-40B4-BE49-F238E27FC236}">
                <a16:creationId xmlns:a16="http://schemas.microsoft.com/office/drawing/2014/main" id="{710CFA4B-E876-ACCC-EB62-1B21944CC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3315" y="1486335"/>
            <a:ext cx="3911598" cy="2383101"/>
          </a:xfrm>
          <a:prstGeom prst="rect">
            <a:avLst/>
          </a:prstGeom>
        </p:spPr>
      </p:pic>
      <p:pic>
        <p:nvPicPr>
          <p:cNvPr id="9" name="Picture 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786FAC9F-E80D-4723-BF33-B724F590E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581" y="4056970"/>
            <a:ext cx="3907065" cy="2815318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80B1875C-879B-4D13-4D20-0A39DA2EA8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154" y="4209822"/>
            <a:ext cx="3965121" cy="264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427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GDB - GNU Debugger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Výchozí ladicí program pro většinu systémů Linux</a:t>
            </a:r>
          </a:p>
          <a:p>
            <a:r>
              <a:rPr lang="cs-CZ" sz="2400" dirty="0">
                <a:ea typeface="+mn-lt"/>
                <a:cs typeface="+mn-lt"/>
              </a:rPr>
              <a:t>Rozhraní CLI (příkazový řádek)</a:t>
            </a:r>
            <a:endParaRPr lang="cs-CZ" dirty="0"/>
          </a:p>
          <a:p>
            <a:r>
              <a:rPr lang="cs-CZ" sz="2400" dirty="0">
                <a:ea typeface="+mn-lt"/>
                <a:cs typeface="+mn-lt"/>
              </a:rPr>
              <a:t>Lokální nebo vzdálené ladění</a:t>
            </a:r>
            <a:endParaRPr lang="cs-CZ" dirty="0"/>
          </a:p>
          <a:p>
            <a:r>
              <a:rPr lang="cs-CZ" sz="2400" dirty="0">
                <a:ea typeface="+mn-lt"/>
                <a:cs typeface="+mn-lt"/>
              </a:rPr>
              <a:t>Obsahuje i rozšíření pro specifické účely</a:t>
            </a:r>
            <a:endParaRPr lang="cs-CZ" dirty="0"/>
          </a:p>
          <a:p>
            <a:endParaRPr lang="cs-CZ" sz="2400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Budeme používat: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GEF (GDB </a:t>
            </a:r>
            <a:r>
              <a:rPr lang="cs-CZ" sz="2000" dirty="0" err="1">
                <a:ea typeface="+mn-lt"/>
                <a:cs typeface="+mn-lt"/>
              </a:rPr>
              <a:t>Enhanced</a:t>
            </a:r>
            <a:r>
              <a:rPr lang="cs-CZ" sz="2000" dirty="0">
                <a:ea typeface="+mn-lt"/>
                <a:cs typeface="+mn-lt"/>
              </a:rPr>
              <a:t> </a:t>
            </a:r>
            <a:r>
              <a:rPr lang="cs-CZ" sz="2000" dirty="0" err="1">
                <a:ea typeface="+mn-lt"/>
                <a:cs typeface="+mn-lt"/>
              </a:rPr>
              <a:t>Features</a:t>
            </a:r>
            <a:r>
              <a:rPr lang="cs-CZ" sz="2000" dirty="0">
                <a:ea typeface="+mn-lt"/>
                <a:cs typeface="+mn-lt"/>
              </a:rPr>
              <a:t>)</a:t>
            </a:r>
            <a:endParaRPr lang="cs-CZ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Picture 3" descr="GNU Debugger - Wikipedia">
            <a:extLst>
              <a:ext uri="{FF2B5EF4-FFF2-40B4-BE49-F238E27FC236}">
                <a16:creationId xmlns:a16="http://schemas.microsoft.com/office/drawing/2014/main" id="{82B01CDE-80B1-6858-A7C9-7F612EC2C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600" y="1396094"/>
            <a:ext cx="3055257" cy="185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177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GDB - Důležité příkazy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cs-CZ" sz="2400" dirty="0" err="1">
                <a:ea typeface="+mn-lt"/>
                <a:cs typeface="+mn-lt"/>
              </a:rPr>
              <a:t>gdb</a:t>
            </a:r>
            <a:r>
              <a:rPr lang="cs-CZ" sz="2400" dirty="0">
                <a:ea typeface="+mn-lt"/>
                <a:cs typeface="+mn-lt"/>
              </a:rPr>
              <a:t> ./program (z terminálu)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Spuštění programu v </a:t>
            </a:r>
            <a:r>
              <a:rPr lang="cs-CZ" sz="2000" dirty="0" err="1">
                <a:ea typeface="+mn-lt"/>
                <a:cs typeface="+mn-lt"/>
              </a:rPr>
              <a:t>gdb</a:t>
            </a:r>
            <a:endParaRPr lang="cs-CZ" dirty="0" err="1"/>
          </a:p>
          <a:p>
            <a:r>
              <a:rPr lang="cs-CZ" sz="2400" dirty="0" err="1">
                <a:ea typeface="+mn-lt"/>
                <a:cs typeface="+mn-lt"/>
              </a:rPr>
              <a:t>help</a:t>
            </a:r>
            <a:endParaRPr lang="cs-CZ" dirty="0" err="1"/>
          </a:p>
          <a:p>
            <a:r>
              <a:rPr lang="cs-CZ" sz="2400" dirty="0">
                <a:ea typeface="+mn-lt"/>
                <a:cs typeface="+mn-lt"/>
              </a:rPr>
              <a:t>run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spustí program</a:t>
            </a:r>
            <a:endParaRPr lang="cs-CZ" dirty="0"/>
          </a:p>
          <a:p>
            <a:r>
              <a:rPr lang="cs-CZ" sz="2400" dirty="0">
                <a:ea typeface="+mn-lt"/>
                <a:cs typeface="+mn-lt"/>
              </a:rPr>
              <a:t>start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spustí program a přeruší ho ve funkci </a:t>
            </a:r>
            <a:r>
              <a:rPr lang="cs-CZ" sz="2000" dirty="0" err="1">
                <a:ea typeface="+mn-lt"/>
                <a:cs typeface="+mn-lt"/>
              </a:rPr>
              <a:t>main</a:t>
            </a:r>
            <a:r>
              <a:rPr lang="cs-CZ" sz="2000" dirty="0">
                <a:ea typeface="+mn-lt"/>
                <a:cs typeface="+mn-lt"/>
              </a:rPr>
              <a:t>()</a:t>
            </a:r>
            <a:endParaRPr lang="cs-CZ"/>
          </a:p>
          <a:p>
            <a:r>
              <a:rPr lang="cs-CZ" sz="2400" dirty="0">
                <a:ea typeface="+mn-lt"/>
                <a:cs typeface="+mn-lt"/>
              </a:rPr>
              <a:t>si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Single </a:t>
            </a:r>
            <a:r>
              <a:rPr lang="cs-CZ" sz="2000" dirty="0" err="1">
                <a:ea typeface="+mn-lt"/>
                <a:cs typeface="+mn-lt"/>
              </a:rPr>
              <a:t>Instruction</a:t>
            </a:r>
            <a:endParaRPr lang="cs-CZ" sz="2000" dirty="0" err="1"/>
          </a:p>
          <a:p>
            <a:r>
              <a:rPr lang="cs-CZ" sz="2400" dirty="0">
                <a:ea typeface="+mn-lt"/>
                <a:cs typeface="+mn-lt"/>
              </a:rPr>
              <a:t>ni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 err="1">
                <a:ea typeface="+mn-lt"/>
                <a:cs typeface="+mn-lt"/>
              </a:rPr>
              <a:t>Next</a:t>
            </a:r>
            <a:r>
              <a:rPr lang="cs-CZ" sz="2000" dirty="0">
                <a:ea typeface="+mn-lt"/>
                <a:cs typeface="+mn-lt"/>
              </a:rPr>
              <a:t> </a:t>
            </a:r>
            <a:r>
              <a:rPr lang="cs-CZ" sz="2000" dirty="0" err="1">
                <a:ea typeface="+mn-lt"/>
                <a:cs typeface="+mn-lt"/>
              </a:rPr>
              <a:t>Instruction</a:t>
            </a:r>
            <a:r>
              <a:rPr lang="cs-CZ" sz="2000" dirty="0">
                <a:ea typeface="+mn-lt"/>
                <a:cs typeface="+mn-lt"/>
              </a:rPr>
              <a:t> (krokování přes </a:t>
            </a:r>
            <a:r>
              <a:rPr lang="cs-CZ" sz="2000" dirty="0" err="1">
                <a:ea typeface="+mn-lt"/>
                <a:cs typeface="+mn-lt"/>
              </a:rPr>
              <a:t>func</a:t>
            </a:r>
            <a:r>
              <a:rPr lang="cs-CZ" sz="2000" dirty="0">
                <a:ea typeface="+mn-lt"/>
                <a:cs typeface="+mn-lt"/>
              </a:rPr>
              <a:t> </a:t>
            </a:r>
            <a:r>
              <a:rPr lang="cs-CZ" sz="2000" dirty="0" err="1">
                <a:ea typeface="+mn-lt"/>
                <a:cs typeface="+mn-lt"/>
              </a:rPr>
              <a:t>calls</a:t>
            </a:r>
            <a:r>
              <a:rPr lang="cs-CZ" sz="2000" dirty="0">
                <a:ea typeface="+mn-lt"/>
                <a:cs typeface="+mn-lt"/>
              </a:rPr>
              <a:t>)</a:t>
            </a:r>
            <a:endParaRPr lang="cs-CZ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Picture 3" descr="GNU Debugger - Wikipedia">
            <a:extLst>
              <a:ext uri="{FF2B5EF4-FFF2-40B4-BE49-F238E27FC236}">
                <a16:creationId xmlns:a16="http://schemas.microsoft.com/office/drawing/2014/main" id="{82B01CDE-80B1-6858-A7C9-7F612EC2C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600" y="1396094"/>
            <a:ext cx="3055257" cy="185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113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GDB - Důležité příkazy 2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cs-CZ" sz="2400" dirty="0" err="1">
                <a:ea typeface="+mn-lt"/>
                <a:cs typeface="+mn-lt"/>
              </a:rPr>
              <a:t>break</a:t>
            </a:r>
            <a:endParaRPr lang="en-US" dirty="0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Nastavení bodu přerušení na určitém místě</a:t>
            </a:r>
            <a:endParaRPr lang="cs-CZ" dirty="0"/>
          </a:p>
          <a:p>
            <a:r>
              <a:rPr lang="cs-CZ" sz="2400" err="1">
                <a:ea typeface="+mn-lt"/>
                <a:cs typeface="+mn-lt"/>
              </a:rPr>
              <a:t>delete</a:t>
            </a:r>
            <a:endParaRPr lang="cs-CZ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Smaže bod(y) přerušení</a:t>
            </a:r>
            <a:endParaRPr lang="cs-CZ" dirty="0"/>
          </a:p>
          <a:p>
            <a:r>
              <a:rPr lang="cs-CZ" sz="2400" dirty="0" err="1"/>
              <a:t>disassemble</a:t>
            </a:r>
            <a:endParaRPr lang="cs-CZ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Rozebere zadaný úsek paměti</a:t>
            </a:r>
            <a:endParaRPr lang="cs-CZ" dirty="0"/>
          </a:p>
          <a:p>
            <a:r>
              <a:rPr lang="cs-CZ" sz="2400" dirty="0">
                <a:ea typeface="+mn-lt"/>
                <a:cs typeface="+mn-lt"/>
              </a:rPr>
              <a:t>x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Prozkoumá paměť (x/c)</a:t>
            </a:r>
            <a:endParaRPr lang="cs-CZ" dirty="0"/>
          </a:p>
          <a:p>
            <a:r>
              <a:rPr lang="cs-CZ" sz="2400" dirty="0" err="1"/>
              <a:t>continue</a:t>
            </a:r>
            <a:endParaRPr lang="cs-CZ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pokračování v debuggování po </a:t>
            </a:r>
            <a:r>
              <a:rPr lang="cs-CZ" sz="2000" dirty="0" err="1">
                <a:ea typeface="+mn-lt"/>
                <a:cs typeface="+mn-lt"/>
              </a:rPr>
              <a:t>breakpointu</a:t>
            </a:r>
            <a:endParaRPr lang="cs-CZ" dirty="0" err="1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4" name="Picture 3" descr="GNU Debugger - Wikipedia">
            <a:extLst>
              <a:ext uri="{FF2B5EF4-FFF2-40B4-BE49-F238E27FC236}">
                <a16:creationId xmlns:a16="http://schemas.microsoft.com/office/drawing/2014/main" id="{82B01CDE-80B1-6858-A7C9-7F612EC2C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600" y="1396094"/>
            <a:ext cx="3055257" cy="185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91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F55281-8B6A-F050-8D89-3D7E7A8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899"/>
            <a:ext cx="10515600" cy="1325563"/>
          </a:xfrm>
        </p:spPr>
        <p:txBody>
          <a:bodyPr/>
          <a:lstStyle/>
          <a:p>
            <a:r>
              <a:rPr lang="cs-CZ" dirty="0"/>
              <a:t>Virtuální paměť</a:t>
            </a:r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C1043C-710D-8AB2-1580-FFC9DFA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7663"/>
            <a:ext cx="11168742" cy="37826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ea typeface="+mn-lt"/>
                <a:cs typeface="+mn-lt"/>
              </a:rPr>
              <a:t>Idealizovaná abstrakce paměti RAM pro procesy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dodatečná paměť navíc</a:t>
            </a:r>
            <a:endParaRPr lang="cs-CZ" dirty="0"/>
          </a:p>
          <a:p>
            <a:endParaRPr lang="cs-CZ" sz="2400" dirty="0">
              <a:ea typeface="+mn-lt"/>
              <a:cs typeface="+mn-lt"/>
            </a:endParaRPr>
          </a:p>
          <a:p>
            <a:r>
              <a:rPr lang="cs-CZ" sz="2400" dirty="0">
                <a:ea typeface="+mn-lt"/>
                <a:cs typeface="+mn-lt"/>
              </a:rPr>
              <a:t>Každý proces má svou vlastní virtuální paměť</a:t>
            </a:r>
            <a:endParaRPr lang="cs-CZ" dirty="0"/>
          </a:p>
          <a:p>
            <a:r>
              <a:rPr lang="cs-CZ" sz="2400" dirty="0">
                <a:ea typeface="+mn-lt"/>
                <a:cs typeface="+mn-lt"/>
              </a:rPr>
              <a:t>OS mapuje virtuální adresy na HW adresy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MMU provádí překlad za chodu PC</a:t>
            </a:r>
            <a:endParaRPr lang="cs-CZ" dirty="0"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cs-CZ" sz="1600" dirty="0" err="1"/>
              <a:t>Memory</a:t>
            </a:r>
            <a:r>
              <a:rPr lang="cs-CZ" sz="1600" dirty="0"/>
              <a:t> Management Unit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cs-CZ" sz="1600" dirty="0"/>
          </a:p>
        </p:txBody>
      </p:sp>
      <p:pic>
        <p:nvPicPr>
          <p:cNvPr id="5" name="Obrázek 4" descr="Obsah obrázku text, snímek obrazovky, Písmo, logo&#10;&#10;Popis se vygeneroval automaticky.">
            <a:extLst>
              <a:ext uri="{FF2B5EF4-FFF2-40B4-BE49-F238E27FC236}">
                <a16:creationId xmlns:a16="http://schemas.microsoft.com/office/drawing/2014/main" id="{2F1E6D9E-2411-88BD-CF81-CF402F4E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6"/>
            <a:ext cx="12205368" cy="1258235"/>
          </a:xfrm>
          <a:prstGeom prst="rect">
            <a:avLst/>
          </a:prstGeom>
        </p:spPr>
      </p:pic>
      <p:pic>
        <p:nvPicPr>
          <p:cNvPr id="6" name="Picture 5" descr="How does virtual memory work on smartphones? - Quora">
            <a:extLst>
              <a:ext uri="{FF2B5EF4-FFF2-40B4-BE49-F238E27FC236}">
                <a16:creationId xmlns:a16="http://schemas.microsoft.com/office/drawing/2014/main" id="{CFBCAA80-80F0-04A2-4B9A-DFDC39886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1" y="1427678"/>
            <a:ext cx="3788228" cy="2783442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7" name="Picture 6" descr="Memory Management Unit (MMU) » CS Taleem">
            <a:extLst>
              <a:ext uri="{FF2B5EF4-FFF2-40B4-BE49-F238E27FC236}">
                <a16:creationId xmlns:a16="http://schemas.microsoft.com/office/drawing/2014/main" id="{CAF30CF9-D73A-6255-A348-29A2944F9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143" y="4360001"/>
            <a:ext cx="3243941" cy="2390683"/>
          </a:xfrm>
          <a:prstGeom prst="rect">
            <a:avLst/>
          </a:prstGeom>
          <a:ln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1499312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Širokoúhlá obrazovka</PresentationFormat>
  <Paragraphs>0</Paragraphs>
  <Slides>75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75</vt:i4>
      </vt:variant>
    </vt:vector>
  </HeadingPairs>
  <TitlesOfParts>
    <vt:vector size="76" baseType="lpstr">
      <vt:lpstr>office theme</vt:lpstr>
      <vt:lpstr>Analýza MALWARE</vt:lpstr>
      <vt:lpstr>$ WHOAMI</vt:lpstr>
      <vt:lpstr>Agenda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Ring 0-3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Assembly jazyk</vt:lpstr>
      <vt:lpstr>Prezentace aplikace PowerPoint</vt:lpstr>
      <vt:lpstr>Prezentace aplikace PowerPoint</vt:lpstr>
      <vt:lpstr>Co je exploit?</vt:lpstr>
      <vt:lpstr>Exploit - Typy útoku</vt:lpstr>
      <vt:lpstr>Exploit - Typy útoku</vt:lpstr>
      <vt:lpstr>Analýza malware</vt:lpstr>
      <vt:lpstr>Statická analýza - Fingerprinting souboru</vt:lpstr>
      <vt:lpstr>Statická analýza - Strings</vt:lpstr>
      <vt:lpstr>Statická analýza - Hlavičky a typy souborů</vt:lpstr>
      <vt:lpstr>Kde to mohu trénovat?</vt:lpstr>
      <vt:lpstr>TOP 3 knížky</vt:lpstr>
      <vt:lpstr>Darknet</vt:lpstr>
      <vt:lpstr>$ DarkNet – Přístup</vt:lpstr>
      <vt:lpstr>$ DarkNet – CICADA 3301</vt:lpstr>
      <vt:lpstr>Prezentace aplikace PowerPoint</vt:lpstr>
      <vt:lpstr>$ DarkNet – Leaks</vt:lpstr>
      <vt:lpstr>$ ČR v Cyber světě</vt:lpstr>
      <vt:lpstr>$ NATO v Cyber světě</vt:lpstr>
      <vt:lpstr>Prezentace aplikace PowerPoint</vt:lpstr>
      <vt:lpstr>2. PRAKTICKÁ ČÁST</vt:lpstr>
      <vt:lpstr>CTF platforma</vt:lpstr>
      <vt:lpstr>DALŠÍ MATERIÁLY</vt:lpstr>
      <vt:lpstr>Fyzická paměť</vt:lpstr>
      <vt:lpstr>x86-CPU: Registry </vt:lpstr>
      <vt:lpstr>x86-CPU: Registry </vt:lpstr>
      <vt:lpstr>x86-CPU: Registry (32 / 64 bit)</vt:lpstr>
      <vt:lpstr>x86-CPU: Registry (32 / 64 bit)</vt:lpstr>
      <vt:lpstr>Status Flags </vt:lpstr>
      <vt:lpstr>Endianness</vt:lpstr>
      <vt:lpstr>Stack</vt:lpstr>
      <vt:lpstr>Stack Frame</vt:lpstr>
      <vt:lpstr>Memory layout - Windows X Linux</vt:lpstr>
      <vt:lpstr>ELF soubory</vt:lpstr>
      <vt:lpstr>Compiler GCC (Linux)</vt:lpstr>
      <vt:lpstr>Assembly jazyk – Intel vs. AT&amp;T syntaxe</vt:lpstr>
      <vt:lpstr>Assembly jazyk – Intel vs. AT&amp;T syntaxe</vt:lpstr>
      <vt:lpstr>Assembly - základní instrukce</vt:lpstr>
      <vt:lpstr>Assembly instrukce - MOV</vt:lpstr>
      <vt:lpstr>Assembly instrukce - PUSH</vt:lpstr>
      <vt:lpstr>Assembly instrukce - POP</vt:lpstr>
      <vt:lpstr>Assembly instrukce - CALL</vt:lpstr>
      <vt:lpstr>Assembly instrukce - RET</vt:lpstr>
      <vt:lpstr>Assembly instrukce - JMP</vt:lpstr>
      <vt:lpstr>Assembly instrukce - XOR</vt:lpstr>
      <vt:lpstr>Assembly instrukce - NOP</vt:lpstr>
      <vt:lpstr>Assembly instrukce - INC, ADD, SUB</vt:lpstr>
      <vt:lpstr>Debugger</vt:lpstr>
      <vt:lpstr>Prezentace aplikace PowerPoint</vt:lpstr>
      <vt:lpstr>GDB - GNU Debugger</vt:lpstr>
      <vt:lpstr>GDB - Důležité příkazy</vt:lpstr>
      <vt:lpstr>GDB - Důležité příkazy 2</vt:lpstr>
      <vt:lpstr>Virtuální paměť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1473</cp:revision>
  <dcterms:created xsi:type="dcterms:W3CDTF">2024-07-23T13:20:12Z</dcterms:created>
  <dcterms:modified xsi:type="dcterms:W3CDTF">2026-06-23T18:59:34Z</dcterms:modified>
</cp:coreProperties>
</file>